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4" r:id="rId7"/>
    <p:sldId id="263" r:id="rId8"/>
    <p:sldId id="262" r:id="rId9"/>
  </p:sldIdLst>
  <p:sldSz cx="16256000" cy="9144000"/>
  <p:notesSz cx="9144000" cy="16256000"/>
  <p:embeddedFontLst>
    <p:embeddedFont>
      <p:font typeface="MiSans" panose="02010600030101010101" charset="-122"/>
      <p:regular r:id="rId11"/>
    </p:embeddedFont>
    <p:embeddedFont>
      <p:font typeface="微软雅黑" panose="020B0503020204020204" pitchFamily="34" charset="-122"/>
      <p:regular r:id="rId12"/>
      <p:bold r:id="rId13"/>
    </p:embeddedFont>
    <p:embeddedFont>
      <p:font typeface="微软雅黑" panose="020B0503020204020204" pitchFamily="34" charset="-122"/>
      <p:regular r:id="rId12"/>
      <p:bold r:id="rId13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3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t Liu" userId="c2c3b54b7c83c5d6" providerId="LiveId" clId="{1747318B-C595-40F3-A9B7-318F4582416E}"/>
    <pc:docChg chg="undo custSel modSld">
      <pc:chgData name="wt Liu" userId="c2c3b54b7c83c5d6" providerId="LiveId" clId="{1747318B-C595-40F3-A9B7-318F4582416E}" dt="2026-05-30T01:05:33.243" v="72" actId="20577"/>
      <pc:docMkLst>
        <pc:docMk/>
      </pc:docMkLst>
      <pc:sldChg chg="modSp mod">
        <pc:chgData name="wt Liu" userId="c2c3b54b7c83c5d6" providerId="LiveId" clId="{1747318B-C595-40F3-A9B7-318F4582416E}" dt="2026-05-30T01:04:46.402" v="49" actId="20577"/>
        <pc:sldMkLst>
          <pc:docMk/>
          <pc:sldMk cId="0" sldId="257"/>
        </pc:sldMkLst>
        <pc:spChg chg="mod">
          <ac:chgData name="wt Liu" userId="c2c3b54b7c83c5d6" providerId="LiveId" clId="{1747318B-C595-40F3-A9B7-318F4582416E}" dt="2026-05-30T01:03:54.817" v="1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wt Liu" userId="c2c3b54b7c83c5d6" providerId="LiveId" clId="{1747318B-C595-40F3-A9B7-318F4582416E}" dt="2026-05-30T01:04:46.402" v="49" actId="20577"/>
          <ac:spMkLst>
            <pc:docMk/>
            <pc:sldMk cId="0" sldId="257"/>
            <ac:spMk id="33" creationId="{00000000-0000-0000-0000-000000000000}"/>
          </ac:spMkLst>
        </pc:spChg>
      </pc:sldChg>
      <pc:sldChg chg="modSp mod">
        <pc:chgData name="wt Liu" userId="c2c3b54b7c83c5d6" providerId="LiveId" clId="{1747318B-C595-40F3-A9B7-318F4582416E}" dt="2026-05-30T01:05:12.242" v="51" actId="20577"/>
        <pc:sldMkLst>
          <pc:docMk/>
          <pc:sldMk cId="0" sldId="258"/>
        </pc:sldMkLst>
        <pc:spChg chg="mod">
          <ac:chgData name="wt Liu" userId="c2c3b54b7c83c5d6" providerId="LiveId" clId="{1747318B-C595-40F3-A9B7-318F4582416E}" dt="2026-05-30T01:05:12.242" v="51" actId="20577"/>
          <ac:spMkLst>
            <pc:docMk/>
            <pc:sldMk cId="0" sldId="258"/>
            <ac:spMk id="39" creationId="{00000000-0000-0000-0000-000000000000}"/>
          </ac:spMkLst>
        </pc:spChg>
      </pc:sldChg>
      <pc:sldChg chg="modSp mod">
        <pc:chgData name="wt Liu" userId="c2c3b54b7c83c5d6" providerId="LiveId" clId="{1747318B-C595-40F3-A9B7-318F4582416E}" dt="2026-05-30T01:05:33.243" v="72" actId="20577"/>
        <pc:sldMkLst>
          <pc:docMk/>
          <pc:sldMk cId="0" sldId="260"/>
        </pc:sldMkLst>
        <pc:spChg chg="mod">
          <ac:chgData name="wt Liu" userId="c2c3b54b7c83c5d6" providerId="LiveId" clId="{1747318B-C595-40F3-A9B7-318F4582416E}" dt="2026-05-30T01:05:29.247" v="62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wt Liu" userId="c2c3b54b7c83c5d6" providerId="LiveId" clId="{1747318B-C595-40F3-A9B7-318F4582416E}" dt="2026-05-30T01:05:33.243" v="72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01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9288-5183-43F1-0312-F0FFA3137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E6089-0A5A-B445-1CCF-DD5323873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80ABA-4B29-471B-B30F-C035096A5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8F6CB-22F0-3A78-930D-357880C51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8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6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-13716" y="959612"/>
            <a:ext cx="16269716" cy="8197977"/>
          </a:xfrm>
          <a:prstGeom prst="rect">
            <a:avLst/>
          </a:prstGeom>
        </p:spPr>
      </p:pic>
      <p:pic>
        <p:nvPicPr>
          <p:cNvPr id="9" name="Image 7" descr="https://kimi-img.moonshot.cn/pub/slides/okc/jrh24n62ljpy4/mnt/agents/output/template_convert/images/image_7.png"/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12372975" y="751713"/>
            <a:ext cx="3242437" cy="2690622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0" y="2286000"/>
            <a:ext cx="16256000" cy="1778000"/>
          </a:xfrm>
          <a:prstGeom prst="rect">
            <a:avLst/>
          </a:prstGeom>
          <a:solidFill>
            <a:srgbClr val="2F5496">
              <a:alpha val="72000"/>
            </a:srgbClr>
          </a:solidFill>
          <a:ln/>
        </p:spPr>
      </p:sp>
      <p:sp>
        <p:nvSpPr>
          <p:cNvPr id="11" name="Text 1"/>
          <p:cNvSpPr/>
          <p:nvPr/>
        </p:nvSpPr>
        <p:spPr>
          <a:xfrm>
            <a:off x="508000" y="2311400"/>
            <a:ext cx="15240000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MIPI CSI-2 协议的高速高可靠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4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图像采集系统设计与仿真验证</a:t>
            </a:r>
            <a:endParaRPr lang="en-US" sz="1600" dirty="0"/>
          </a:p>
        </p:txBody>
      </p:sp>
      <p:sp>
        <p:nvSpPr>
          <p:cNvPr id="12" name="Text 2"/>
          <p:cNvSpPr/>
          <p:nvPr/>
        </p:nvSpPr>
        <p:spPr>
          <a:xfrm>
            <a:off x="4953000" y="55880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汇报人：刘文涛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日期：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</a:t>
            </a:r>
            <a:r>
              <a:rPr lang="zh-CN" alt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</a:t>
            </a:r>
            <a:r>
              <a:rPr lang="en-US" altLang="zh-CN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zh-CN" altLang="en-US" sz="36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一、课题目标与阶段定位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1485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面向高速图像采集中的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带宽提升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链路同步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2200" b="1" dirty="0">
                <a:solidFill>
                  <a:srgbClr val="FF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数据可靠性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等问题，研究基于 MIPI CSI-2 </a:t>
            </a:r>
            <a:r>
              <a:rPr lang="en-US" sz="22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协议的数字接收前端设计与仿真验证</a:t>
            </a:r>
            <a:r>
              <a:rPr lang="en-US" sz="22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698500" y="26924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预期主要研究内容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889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2" name="Text 4"/>
          <p:cNvSpPr/>
          <p:nvPr/>
        </p:nvSpPr>
        <p:spPr>
          <a:xfrm>
            <a:off x="889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1320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4" name="Text 6"/>
          <p:cNvSpPr/>
          <p:nvPr/>
        </p:nvSpPr>
        <p:spPr>
          <a:xfrm>
            <a:off x="1714500" y="3276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</a:t>
            </a:r>
            <a:r>
              <a:rPr lang="en-US" sz="20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223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6" name="Text 8"/>
          <p:cNvSpPr/>
          <p:nvPr/>
        </p:nvSpPr>
        <p:spPr>
          <a:xfrm>
            <a:off x="6223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9"/>
          <p:cNvSpPr/>
          <p:nvPr/>
        </p:nvSpPr>
        <p:spPr>
          <a:xfrm>
            <a:off x="6654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8" name="Text 10"/>
          <p:cNvSpPr/>
          <p:nvPr/>
        </p:nvSpPr>
        <p:spPr>
          <a:xfrm>
            <a:off x="7048500" y="32004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 lane 接收与对齐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1430000" y="3276600"/>
            <a:ext cx="431800" cy="431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0" name="Text 12"/>
          <p:cNvSpPr/>
          <p:nvPr/>
        </p:nvSpPr>
        <p:spPr>
          <a:xfrm>
            <a:off x="11430000" y="3276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1861800" y="3352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22" name="Text 14"/>
          <p:cNvSpPr/>
          <p:nvPr/>
        </p:nvSpPr>
        <p:spPr>
          <a:xfrm>
            <a:off x="12255500" y="3276600"/>
            <a:ext cx="3302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 校验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889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4" name="Text 16"/>
          <p:cNvSpPr/>
          <p:nvPr/>
        </p:nvSpPr>
        <p:spPr>
          <a:xfrm>
            <a:off x="889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1320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6" name="Text 18"/>
          <p:cNvSpPr/>
          <p:nvPr/>
        </p:nvSpPr>
        <p:spPr>
          <a:xfrm>
            <a:off x="1714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帧行同步与像素重组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6223000" y="3911600"/>
            <a:ext cx="431800" cy="431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8" name="Text 20"/>
          <p:cNvSpPr/>
          <p:nvPr/>
        </p:nvSpPr>
        <p:spPr>
          <a:xfrm>
            <a:off x="6223000" y="3911600"/>
            <a:ext cx="431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6654800" y="3987800"/>
            <a:ext cx="2794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30" name="Text 22"/>
          <p:cNvSpPr/>
          <p:nvPr/>
        </p:nvSpPr>
        <p:spPr>
          <a:xfrm>
            <a:off x="7048500" y="39116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 写入与错误恢复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98500" y="4572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当前阶段进展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698500" y="5080000"/>
            <a:ext cx="14859000" cy="1651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952500" y="5143500"/>
            <a:ext cx="143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已实现：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协议解析、ECC/CRC 校验、多 lane 接收与对齐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b="1" dirty="0" err="1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初步验证：</a:t>
            </a:r>
            <a:r>
              <a:rPr lang="en-US" sz="20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帧行同步与多格式像素重组已</a:t>
            </a:r>
            <a:r>
              <a:rPr lang="zh-CN" alt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</a:t>
            </a:r>
            <a:r>
              <a:rPr lang="en-US" sz="20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zh-CN" alt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尚未完善</a:t>
            </a:r>
            <a:r>
              <a:rPr lang="en-US" sz="2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2000" dirty="0" err="1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缓存、AXI</a:t>
            </a: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200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写入和错误恢复链路已完成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698500" y="6921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后续工作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98500" y="7429500"/>
            <a:ext cx="14859000" cy="1016000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952500" y="7493000"/>
            <a:ext cx="1435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扩展异常注入和多 lane 配置验证 → 补充长期稳定性与参数扫描 → 完善 FPGA 工程约束和结果整理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二、主要进展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系统数据流架构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698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1" name="Text 3"/>
          <p:cNvSpPr/>
          <p:nvPr/>
        </p:nvSpPr>
        <p:spPr>
          <a:xfrm>
            <a:off x="698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D-PHY 数字抽象输入</a:t>
            </a:r>
            <a:endParaRPr lang="en-US" sz="1600" dirty="0"/>
          </a:p>
        </p:txBody>
      </p:sp>
      <p:sp>
        <p:nvSpPr>
          <p:cNvPr id="12" name="Shape 4"/>
          <p:cNvSpPr/>
          <p:nvPr/>
        </p:nvSpPr>
        <p:spPr>
          <a:xfrm>
            <a:off x="3365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3" name="Shape 5"/>
          <p:cNvSpPr/>
          <p:nvPr/>
        </p:nvSpPr>
        <p:spPr>
          <a:xfrm>
            <a:off x="3746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4" name="Text 6"/>
          <p:cNvSpPr/>
          <p:nvPr/>
        </p:nvSpPr>
        <p:spPr>
          <a:xfrm>
            <a:off x="3746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CSI-2 包解析</a:t>
            </a:r>
            <a:endParaRPr lang="en-US" sz="1600" dirty="0"/>
          </a:p>
        </p:txBody>
      </p:sp>
      <p:sp>
        <p:nvSpPr>
          <p:cNvPr id="15" name="Shape 7"/>
          <p:cNvSpPr/>
          <p:nvPr/>
        </p:nvSpPr>
        <p:spPr>
          <a:xfrm>
            <a:off x="6413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6" name="Shape 8"/>
          <p:cNvSpPr/>
          <p:nvPr/>
        </p:nvSpPr>
        <p:spPr>
          <a:xfrm>
            <a:off x="6794500" y="2413000"/>
            <a:ext cx="2286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17" name="Text 9"/>
          <p:cNvSpPr/>
          <p:nvPr/>
        </p:nvSpPr>
        <p:spPr>
          <a:xfrm>
            <a:off x="6794500" y="2413000"/>
            <a:ext cx="2286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9080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19" name="Shape 11"/>
          <p:cNvSpPr/>
          <p:nvPr/>
        </p:nvSpPr>
        <p:spPr>
          <a:xfrm>
            <a:off x="9461500" y="2413000"/>
            <a:ext cx="2667000" cy="6985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/>
        </p:spPr>
      </p:sp>
      <p:sp>
        <p:nvSpPr>
          <p:cNvPr id="20" name="Text 12"/>
          <p:cNvSpPr/>
          <p:nvPr/>
        </p:nvSpPr>
        <p:spPr>
          <a:xfrm>
            <a:off x="9461500" y="2413000"/>
            <a:ext cx="266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FIFO/CDC 与 AXI 写入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2128500" y="2730500"/>
            <a:ext cx="381000" cy="0"/>
          </a:xfrm>
          <a:prstGeom prst="straightConnector1">
            <a:avLst/>
          </a:prstGeom>
          <a:noFill/>
          <a:ln w="25400">
            <a:solidFill>
              <a:srgbClr val="666666"/>
            </a:solidFill>
            <a:prstDash val="solid"/>
            <a:headEnd type="none"/>
            <a:tailEnd type="arrow"/>
          </a:ln>
        </p:spPr>
      </p:sp>
      <p:sp>
        <p:nvSpPr>
          <p:cNvPr id="22" name="Shape 14"/>
          <p:cNvSpPr/>
          <p:nvPr/>
        </p:nvSpPr>
        <p:spPr>
          <a:xfrm>
            <a:off x="12509500" y="24130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/>
        </p:spPr>
      </p:sp>
      <p:sp>
        <p:nvSpPr>
          <p:cNvPr id="23" name="Text 15"/>
          <p:cNvSpPr/>
          <p:nvPr/>
        </p:nvSpPr>
        <p:spPr>
          <a:xfrm>
            <a:off x="12509500" y="24130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错误监测与状态输出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698500" y="3365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已初步实现的主要模块</a:t>
            </a:r>
            <a:endParaRPr lang="en-US" sz="1600" dirty="0"/>
          </a:p>
        </p:txBody>
      </p:sp>
      <p:sp>
        <p:nvSpPr>
          <p:cNvPr id="25" name="Shape 17"/>
          <p:cNvSpPr/>
          <p:nvPr/>
        </p:nvSpPr>
        <p:spPr>
          <a:xfrm>
            <a:off x="69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88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 Parser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Short / Long 包解析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577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6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ECC / CRC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Header ECC / Payload CRC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858500" y="3873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11049000" y="3873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 / Line Sync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帧行同步控制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69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8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Lane Deskew / Reorder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多通道对齐与重排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577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96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像素重组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RAW8/10 / RGB888 / YUV422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10858500" y="5016500"/>
            <a:ext cx="4699000" cy="8890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11049000" y="5016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 / APB 接口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缓存写入与状态配置</a:t>
            </a:r>
            <a:endParaRPr lang="en-US" sz="1600" dirty="0"/>
          </a:p>
        </p:txBody>
      </p:sp>
      <p:sp>
        <p:nvSpPr>
          <p:cNvPr id="37" name="Shape 29"/>
          <p:cNvSpPr/>
          <p:nvPr/>
        </p:nvSpPr>
        <p:spPr>
          <a:xfrm>
            <a:off x="698500" y="6223000"/>
            <a:ext cx="14859000" cy="635000"/>
          </a:xfrm>
          <a:prstGeom prst="roundRect">
            <a:avLst>
              <a:gd name="adj" fmla="val 15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2500" y="6413500"/>
            <a:ext cx="203200" cy="2032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9" name="Text 31"/>
          <p:cNvSpPr/>
          <p:nvPr/>
        </p:nvSpPr>
        <p:spPr>
          <a:xfrm>
            <a:off x="1270000" y="6223000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 RTL </a:t>
            </a:r>
            <a:r>
              <a:rPr lang="en-US" sz="2000" b="1" dirty="0" err="1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架构已形成初步原型</a:t>
            </a:r>
            <a:r>
              <a:rPr lang="en-US" sz="2000" dirty="0" err="1">
                <a:solidFill>
                  <a:srgbClr val="37562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，能够支撑功能仿真和机制验证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</a:t>
            </a: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、阶段性仿真与实现结果</a:t>
            </a:r>
            <a:endParaRPr lang="en-US" sz="1600" dirty="0"/>
          </a:p>
        </p:txBody>
      </p:sp>
      <p:sp>
        <p:nvSpPr>
          <p:cNvPr id="9" name="Text 1"/>
          <p:cNvSpPr/>
          <p:nvPr/>
        </p:nvSpPr>
        <p:spPr>
          <a:xfrm>
            <a:off x="698500" y="190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代表性 Testbench 与阶段性验证结果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349500"/>
          <a:ext cx="14859000" cy="3682999"/>
        </p:xfrm>
        <a:graphic>
          <a:graphicData uri="http://schemas.openxmlformats.org/drawingml/2006/table">
            <a:tbl>
              <a:tblPr/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19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8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对应内容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验证功能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 Testbench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阶段性结果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协议解析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Packet 字段解析、payload 边界识别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tb_short/long_packet_parser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编译运行完成，字段提取符合预期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ECC/CRC 校验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Header ECC / Payload CRC 检测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tb_header_ecc, tb_payload_crc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级可观察错误输出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lane 对齐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lane deskew、reorder、skew 容忍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tb_lane_deskew, tb_lane_reorder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1/2/4 lane 基础验证完成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帧行同步与像素重组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FS/FE/LS/LE 标记、多格式像素重组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tb_frame_line_sync, tb_raw8_unpack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模块级完成；wrapper 级已有 smoke 结果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系统主链路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CSI-2 输入到像素输出闭环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tb_fpga_wrapper_raw8_smoke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RAW8 主链路 exp=act，信号正常闭合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缓存与 AXI 写入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FIFO/CDC、AXI 写事务、阻塞恢复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tb_axi_write_master, tb_async_fifo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阻塞释放后写事务可继续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163"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错误恢复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请求、清除、clean frame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tb_resync_ctrl, tb_fpga_wrapper_resync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u="none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resync 链路已闭合，clean frame 已验证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2"/>
          <p:cNvSpPr/>
          <p:nvPr/>
        </p:nvSpPr>
        <p:spPr>
          <a:xfrm>
            <a:off x="698500" y="622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Wrapper 可综合初步评估</a:t>
            </a:r>
            <a:endParaRPr lang="en-US" sz="1600" dirty="0"/>
          </a:p>
        </p:txBody>
      </p:sp>
      <p:sp>
        <p:nvSpPr>
          <p:cNvPr id="12" name="Shape 3"/>
          <p:cNvSpPr/>
          <p:nvPr/>
        </p:nvSpPr>
        <p:spPr>
          <a:xfrm>
            <a:off x="698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3" name="Text 4"/>
          <p:cNvSpPr/>
          <p:nvPr/>
        </p:nvSpPr>
        <p:spPr>
          <a:xfrm>
            <a:off x="698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LUT</a:t>
            </a:r>
            <a:r>
              <a:rPr lang="zh-CN" alt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（逻辑门）</a:t>
            </a: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使用量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698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618</a:t>
            </a:r>
            <a:endParaRPr lang="en-US" sz="1600" dirty="0"/>
          </a:p>
        </p:txBody>
      </p:sp>
      <p:sp>
        <p:nvSpPr>
          <p:cNvPr id="15" name="Shape 6"/>
          <p:cNvSpPr/>
          <p:nvPr/>
        </p:nvSpPr>
        <p:spPr>
          <a:xfrm>
            <a:off x="3810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D9E2F3"/>
          </a:solidFill>
          <a:ln w="12700">
            <a:solidFill>
              <a:srgbClr val="B4C6E7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3810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FF </a:t>
            </a:r>
            <a:r>
              <a:rPr lang="zh-CN" alt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（触发器）</a:t>
            </a:r>
            <a:r>
              <a:rPr lang="en-US" sz="1400" dirty="0" err="1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使用量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3810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1135</a:t>
            </a:r>
            <a:endParaRPr lang="en-US" sz="1600" dirty="0"/>
          </a:p>
        </p:txBody>
      </p:sp>
      <p:sp>
        <p:nvSpPr>
          <p:cNvPr id="18" name="Shape 9"/>
          <p:cNvSpPr/>
          <p:nvPr/>
        </p:nvSpPr>
        <p:spPr>
          <a:xfrm>
            <a:off x="69215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4B084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9215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Routed WNS</a:t>
            </a: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69215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D7D3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1.884 ns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10033000" y="6667500"/>
            <a:ext cx="2794000" cy="95250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12700">
            <a:solidFill>
              <a:srgbClr val="C5E0B4"/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10033000" y="67056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666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TNS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10033000" y="7023100"/>
            <a:ext cx="2794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70AD4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</a:t>
            </a: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42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待完善工作</a:t>
            </a:r>
            <a:endParaRPr lang="en-US" sz="1600" dirty="0"/>
          </a:p>
        </p:txBody>
      </p:sp>
      <p:sp>
        <p:nvSpPr>
          <p:cNvPr id="9" name="Shape 1"/>
          <p:cNvSpPr/>
          <p:nvPr/>
        </p:nvSpPr>
        <p:spPr>
          <a:xfrm>
            <a:off x="1016000" y="21590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0" name="Text 2"/>
          <p:cNvSpPr/>
          <p:nvPr/>
        </p:nvSpPr>
        <p:spPr>
          <a:xfrm>
            <a:off x="1016000" y="215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3"/>
          <p:cNvSpPr/>
          <p:nvPr/>
        </p:nvSpPr>
        <p:spPr>
          <a:xfrm>
            <a:off x="1574800" y="229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2" name="Shape 4"/>
          <p:cNvSpPr/>
          <p:nvPr/>
        </p:nvSpPr>
        <p:spPr>
          <a:xfrm>
            <a:off x="2032000" y="209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3" name="Text 5"/>
          <p:cNvSpPr/>
          <p:nvPr/>
        </p:nvSpPr>
        <p:spPr>
          <a:xfrm>
            <a:off x="2222500" y="209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研究范围聚焦数字 RTL 接收前端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，输入侧采用 D-PHY 数字抽象接口</a:t>
            </a:r>
            <a:endParaRPr lang="en-US" sz="1600" dirty="0"/>
          </a:p>
        </p:txBody>
      </p:sp>
      <p:sp>
        <p:nvSpPr>
          <p:cNvPr id="14" name="Shape 6"/>
          <p:cNvSpPr/>
          <p:nvPr/>
        </p:nvSpPr>
        <p:spPr>
          <a:xfrm>
            <a:off x="1016000" y="3111500"/>
            <a:ext cx="558800" cy="55880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5" name="Text 7"/>
          <p:cNvSpPr/>
          <p:nvPr/>
        </p:nvSpPr>
        <p:spPr>
          <a:xfrm>
            <a:off x="1016000" y="3111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Shape 8"/>
          <p:cNvSpPr/>
          <p:nvPr/>
        </p:nvSpPr>
        <p:spPr>
          <a:xfrm>
            <a:off x="1574800" y="3251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ED7D31"/>
          </a:solidFill>
          <a:ln/>
        </p:spPr>
      </p:sp>
      <p:sp>
        <p:nvSpPr>
          <p:cNvPr id="17" name="Shape 9"/>
          <p:cNvSpPr/>
          <p:nvPr/>
        </p:nvSpPr>
        <p:spPr>
          <a:xfrm>
            <a:off x="2032000" y="3048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18" name="Text 10"/>
          <p:cNvSpPr/>
          <p:nvPr/>
        </p:nvSpPr>
        <p:spPr>
          <a:xfrm>
            <a:off x="2222500" y="3048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长时间稳定性和随机阻塞测试仍需补充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，需更大帧尺寸和更复杂异常组合验证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1016000" y="40640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0" name="Text 12"/>
          <p:cNvSpPr/>
          <p:nvPr/>
        </p:nvSpPr>
        <p:spPr>
          <a:xfrm>
            <a:off x="1016000" y="406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1574800" y="4203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2" name="Shape 14"/>
          <p:cNvSpPr/>
          <p:nvPr/>
        </p:nvSpPr>
        <p:spPr>
          <a:xfrm>
            <a:off x="2032000" y="4000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3" name="Text 15"/>
          <p:cNvSpPr/>
          <p:nvPr/>
        </p:nvSpPr>
        <p:spPr>
          <a:xfrm>
            <a:off x="2222500" y="4000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AXI 写入需结合完整 DDR 控制器系统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，完善存储端写入的工程化验证</a:t>
            </a: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1016000" y="5016500"/>
            <a:ext cx="558800" cy="558800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25" name="Text 17"/>
          <p:cNvSpPr/>
          <p:nvPr/>
        </p:nvSpPr>
        <p:spPr>
          <a:xfrm>
            <a:off x="1016000" y="501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1574800" y="51562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5B9BD5"/>
          </a:solidFill>
          <a:ln/>
        </p:spPr>
      </p:sp>
      <p:sp>
        <p:nvSpPr>
          <p:cNvPr id="27" name="Shape 19"/>
          <p:cNvSpPr/>
          <p:nvPr/>
        </p:nvSpPr>
        <p:spPr>
          <a:xfrm>
            <a:off x="2032000" y="49530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28" name="Text 20"/>
          <p:cNvSpPr/>
          <p:nvPr/>
        </p:nvSpPr>
        <p:spPr>
          <a:xfrm>
            <a:off x="2222500" y="49530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FPGA 工程约束和 bitstream 级 DRC 仍需完善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，包括板级 IO 约束和时钟约束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1016000" y="5969000"/>
            <a:ext cx="558800" cy="558800"/>
          </a:xfrm>
          <a:prstGeom prst="ellipse">
            <a:avLst/>
          </a:prstGeom>
          <a:solidFill>
            <a:srgbClr val="70AD47"/>
          </a:solidFill>
          <a:ln/>
        </p:spPr>
      </p:sp>
      <p:sp>
        <p:nvSpPr>
          <p:cNvPr id="30" name="Text 22"/>
          <p:cNvSpPr/>
          <p:nvPr/>
        </p:nvSpPr>
        <p:spPr>
          <a:xfrm>
            <a:off x="1016000" y="5969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1574800" y="6108700"/>
            <a:ext cx="355600" cy="279400"/>
          </a:xfrm>
          <a:prstGeom prst="chevron">
            <a:avLst>
              <a:gd name="adj" fmla="val 50000"/>
            </a:avLst>
          </a:prstGeom>
          <a:solidFill>
            <a:srgbClr val="70AD47"/>
          </a:solidFill>
          <a:ln/>
        </p:spPr>
      </p:sp>
      <p:sp>
        <p:nvSpPr>
          <p:cNvPr id="32" name="Shape 24"/>
          <p:cNvSpPr/>
          <p:nvPr/>
        </p:nvSpPr>
        <p:spPr>
          <a:xfrm>
            <a:off x="2032000" y="5905500"/>
            <a:ext cx="13462000" cy="6985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/>
        </p:spPr>
      </p:sp>
      <p:sp>
        <p:nvSpPr>
          <p:cNvPr id="33" name="Text 25"/>
          <p:cNvSpPr/>
          <p:nvPr/>
        </p:nvSpPr>
        <p:spPr>
          <a:xfrm>
            <a:off x="2222500" y="5905500"/>
            <a:ext cx="1308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需整理论文实验材料</a:t>
            </a:r>
            <a:r>
              <a:rPr lang="en-US" sz="22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：系统架构图、验证矩阵、关键波形、资源与时序表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152400" y="7048500"/>
            <a:ext cx="15938500" cy="7620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27"/>
          <p:cNvSpPr/>
          <p:nvPr/>
        </p:nvSpPr>
        <p:spPr>
          <a:xfrm>
            <a:off x="381000" y="70485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当前研究已形成阶段性 RTL 原型与仿真结果，后续围绕验证覆盖度和工程完整性继续推进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F0B-1EB8-9613-3121-06A7BBA1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>
            <a:extLst>
              <a:ext uri="{FF2B5EF4-FFF2-40B4-BE49-F238E27FC236}">
                <a16:creationId xmlns:a16="http://schemas.microsoft.com/office/drawing/2014/main" id="{5AC76A3B-ABCD-70CB-AE33-DE4E9BE5B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>
            <a:extLst>
              <a:ext uri="{FF2B5EF4-FFF2-40B4-BE49-F238E27FC236}">
                <a16:creationId xmlns:a16="http://schemas.microsoft.com/office/drawing/2014/main" id="{87FBD7EA-BFF9-9658-9E51-41A6DAF844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>
            <a:extLst>
              <a:ext uri="{FF2B5EF4-FFF2-40B4-BE49-F238E27FC236}">
                <a16:creationId xmlns:a16="http://schemas.microsoft.com/office/drawing/2014/main" id="{C40D1FEC-D99E-C568-905B-8389683B9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>
            <a:extLst>
              <a:ext uri="{FF2B5EF4-FFF2-40B4-BE49-F238E27FC236}">
                <a16:creationId xmlns:a16="http://schemas.microsoft.com/office/drawing/2014/main" id="{43FF319A-CD33-D716-1602-1731CA311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>
            <a:extLst>
              <a:ext uri="{FF2B5EF4-FFF2-40B4-BE49-F238E27FC236}">
                <a16:creationId xmlns:a16="http://schemas.microsoft.com/office/drawing/2014/main" id="{78D73706-F278-74F2-70BF-705BA21E1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>
            <a:extLst>
              <a:ext uri="{FF2B5EF4-FFF2-40B4-BE49-F238E27FC236}">
                <a16:creationId xmlns:a16="http://schemas.microsoft.com/office/drawing/2014/main" id="{B30CA5BE-DEB0-6511-F806-743CA78A53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CA7A4B20-FEB2-BE27-08FC-80788AF2E89E}"/>
              </a:ext>
            </a:extLst>
          </p:cNvPr>
          <p:cNvSpPr/>
          <p:nvPr/>
        </p:nvSpPr>
        <p:spPr>
          <a:xfrm>
            <a:off x="698500" y="11176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zh-CN" alt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五</a:t>
            </a:r>
            <a:r>
              <a:rPr 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zh-CN" altLang="en-US" sz="4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下一阶段工作计划</a:t>
            </a:r>
            <a:endParaRPr lang="en-US" sz="16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52EA50ED-50C4-30E9-AAE4-393ED7C9DA05}"/>
              </a:ext>
            </a:extLst>
          </p:cNvPr>
          <p:cNvSpPr/>
          <p:nvPr/>
        </p:nvSpPr>
        <p:spPr>
          <a:xfrm>
            <a:off x="152400" y="7048500"/>
            <a:ext cx="15938500" cy="76200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D859B5CE-5BEC-9DD1-9EA0-FD57FC1C957B}"/>
              </a:ext>
            </a:extLst>
          </p:cNvPr>
          <p:cNvSpPr/>
          <p:nvPr/>
        </p:nvSpPr>
        <p:spPr>
          <a:xfrm>
            <a:off x="381000" y="7048500"/>
            <a:ext cx="154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4472C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当前研究已形成阶段性 RTL 原型与仿真结果，后续围绕验证覆盖度和工程完整性继续推进</a:t>
            </a:r>
            <a:endParaRPr lang="en-US" sz="1600" dirty="0"/>
          </a:p>
        </p:txBody>
      </p:sp>
      <p:pic>
        <p:nvPicPr>
          <p:cNvPr id="37" name="Image 1" descr="https://kimi-img.moonshot.cn/pub/slides/okc/jrh24n62ljpy4/mnt/agents/output/template_convert/images/image_1.png">
            <a:extLst>
              <a:ext uri="{FF2B5EF4-FFF2-40B4-BE49-F238E27FC236}">
                <a16:creationId xmlns:a16="http://schemas.microsoft.com/office/drawing/2014/main" id="{641BB822-E12D-8929-F96A-53A414C713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sp>
        <p:nvSpPr>
          <p:cNvPr id="39" name="Text 1">
            <a:extLst>
              <a:ext uri="{FF2B5EF4-FFF2-40B4-BE49-F238E27FC236}">
                <a16:creationId xmlns:a16="http://schemas.microsoft.com/office/drawing/2014/main" id="{137B03E4-7547-9F5E-5537-29EC8C5915CB}"/>
              </a:ext>
            </a:extLst>
          </p:cNvPr>
          <p:cNvSpPr/>
          <p:nvPr/>
        </p:nvSpPr>
        <p:spPr>
          <a:xfrm>
            <a:off x="2286000" y="2032000"/>
            <a:ext cx="1168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552EAADE-5FE8-C409-7090-E0EE21EDB8F5}"/>
              </a:ext>
            </a:extLst>
          </p:cNvPr>
          <p:cNvSpPr/>
          <p:nvPr/>
        </p:nvSpPr>
        <p:spPr>
          <a:xfrm>
            <a:off x="5080000" y="2730500"/>
            <a:ext cx="6096000" cy="25400"/>
          </a:xfrm>
          <a:prstGeom prst="rect">
            <a:avLst/>
          </a:prstGeom>
          <a:solidFill>
            <a:srgbClr val="FFFFFF">
              <a:alpha val="50196"/>
            </a:srgbClr>
          </a:solidFill>
          <a:ln/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0D02279-9C6A-F87E-F756-368288682EA4}"/>
              </a:ext>
            </a:extLst>
          </p:cNvPr>
          <p:cNvSpPr/>
          <p:nvPr/>
        </p:nvSpPr>
        <p:spPr>
          <a:xfrm>
            <a:off x="2286000" y="2773769"/>
            <a:ext cx="11684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2800" b="1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r>
              <a:rPr lang="en-US" sz="2800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扩展系统级验证（CRC/ECC/resync/写入阻塞/多 lane 配置）</a:t>
            </a:r>
            <a:endParaRPr lang="en-US" sz="2000" dirty="0">
              <a:solidFill>
                <a:srgbClr val="0070C0"/>
              </a:solidFill>
            </a:endParaRPr>
          </a:p>
          <a:p>
            <a:pPr>
              <a:lnSpc>
                <a:spcPct val="180000"/>
              </a:lnSpc>
            </a:pPr>
            <a:r>
              <a:rPr lang="en-US" sz="2800" b="1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r>
              <a:rPr lang="en-US" sz="2800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补充长期稳定性与参数扫描实验</a:t>
            </a:r>
            <a:endParaRPr lang="en-US" sz="2000" dirty="0">
              <a:solidFill>
                <a:srgbClr val="0070C0"/>
              </a:solidFill>
            </a:endParaRPr>
          </a:p>
          <a:p>
            <a:pPr>
              <a:lnSpc>
                <a:spcPct val="180000"/>
              </a:lnSpc>
            </a:pPr>
            <a:r>
              <a:rPr lang="en-US" sz="2800" b="1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r>
              <a:rPr lang="en-US" sz="2800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完善 FPGA 工程约束与板级验证</a:t>
            </a:r>
            <a:endParaRPr lang="en-US" sz="2000" dirty="0">
              <a:solidFill>
                <a:srgbClr val="0070C0"/>
              </a:solidFill>
            </a:endParaRPr>
          </a:p>
          <a:p>
            <a:pPr>
              <a:lnSpc>
                <a:spcPct val="180000"/>
              </a:lnSpc>
            </a:pPr>
            <a:r>
              <a:rPr lang="en-US" sz="2800" b="1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r>
              <a:rPr lang="en-US" sz="2800" dirty="0">
                <a:solidFill>
                  <a:srgbClr val="0070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整理论文实验章节材料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13930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6801A299-1BAF-EB83-FE14-851676A03F40}"/>
              </a:ext>
            </a:extLst>
          </p:cNvPr>
          <p:cNvSpPr txBox="1"/>
          <p:nvPr/>
        </p:nvSpPr>
        <p:spPr>
          <a:xfrm>
            <a:off x="711200" y="12192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3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六、意向工作单位类型与工作方向</a:t>
            </a:r>
            <a:endParaRPr lang="zh-TW" altLang="en-US" sz="3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769DEA-D276-EEAE-ED34-47ECA2D59161}"/>
              </a:ext>
            </a:extLst>
          </p:cNvPr>
          <p:cNvSpPr txBox="1"/>
          <p:nvPr/>
        </p:nvSpPr>
        <p:spPr>
          <a:xfrm>
            <a:off x="711200" y="2070100"/>
            <a:ext cx="1441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zh-TW" altLang="en-US" sz="2000" dirty="0">
              <a:solidFill>
                <a:srgbClr val="505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1EC643D-1EA2-DD75-3E51-61D55D0B6C80}"/>
              </a:ext>
            </a:extLst>
          </p:cNvPr>
          <p:cNvSpPr/>
          <p:nvPr/>
        </p:nvSpPr>
        <p:spPr>
          <a:xfrm>
            <a:off x="1016000" y="2794000"/>
            <a:ext cx="4445000" cy="60960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意向工作单位类型</a:t>
            </a:r>
            <a:endParaRPr lang="zh-TW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09F546C-8F96-3344-4D1B-FD2DA5B43658}"/>
              </a:ext>
            </a:extLst>
          </p:cNvPr>
          <p:cNvSpPr/>
          <p:nvPr/>
        </p:nvSpPr>
        <p:spPr>
          <a:xfrm>
            <a:off x="9271000" y="2794000"/>
            <a:ext cx="4445000" cy="609600"/>
          </a:xfrm>
          <a:prstGeom prst="roundRect">
            <a:avLst>
              <a:gd name="adj" fmla="val 20000"/>
            </a:avLst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目标工作方向</a:t>
            </a:r>
            <a:endParaRPr lang="zh-TW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4636CCDA-DCAE-2904-E1D5-25164F8CA094}"/>
              </a:ext>
            </a:extLst>
          </p:cNvPr>
          <p:cNvSpPr/>
          <p:nvPr/>
        </p:nvSpPr>
        <p:spPr>
          <a:xfrm>
            <a:off x="799791" y="4109839"/>
            <a:ext cx="6413500" cy="9906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2700">
            <a:solidFill>
              <a:srgbClr val="F8CB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BB8D86F-0699-BD4E-F976-5E1B05D44B67}"/>
              </a:ext>
            </a:extLst>
          </p:cNvPr>
          <p:cNvSpPr/>
          <p:nvPr/>
        </p:nvSpPr>
        <p:spPr>
          <a:xfrm>
            <a:off x="1028391" y="4325739"/>
            <a:ext cx="431800" cy="431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D7069D7-67DF-7388-2000-B0B4ADDBCC9F}"/>
              </a:ext>
            </a:extLst>
          </p:cNvPr>
          <p:cNvSpPr txBox="1"/>
          <p:nvPr/>
        </p:nvSpPr>
        <p:spPr>
          <a:xfrm>
            <a:off x="1637991" y="4287639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芯片设计 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半导体企业</a:t>
            </a:r>
            <a:endParaRPr lang="zh-TW" alt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B6380F-D8C1-BC7E-2F90-21944AA029D0}"/>
              </a:ext>
            </a:extLst>
          </p:cNvPr>
          <p:cNvSpPr txBox="1"/>
          <p:nvPr/>
        </p:nvSpPr>
        <p:spPr>
          <a:xfrm>
            <a:off x="1637991" y="4681339"/>
            <a:ext cx="53213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、数模混合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SoC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、高速接口与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SerDes / PHY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相关团队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B9500E00-A13C-F7C6-D1FD-86BE66B48C86}"/>
              </a:ext>
            </a:extLst>
          </p:cNvPr>
          <p:cNvSpPr/>
          <p:nvPr/>
        </p:nvSpPr>
        <p:spPr>
          <a:xfrm>
            <a:off x="8419791" y="4243656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2DEE88B0-7C78-4B83-44E9-876E5B3B2D19}"/>
              </a:ext>
            </a:extLst>
          </p:cNvPr>
          <p:cNvSpPr/>
          <p:nvPr/>
        </p:nvSpPr>
        <p:spPr>
          <a:xfrm>
            <a:off x="8648391" y="4459556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CBC0F0A-BA99-5A98-E133-0D8D74D22B7A}"/>
              </a:ext>
            </a:extLst>
          </p:cNvPr>
          <p:cNvSpPr txBox="1"/>
          <p:nvPr/>
        </p:nvSpPr>
        <p:spPr>
          <a:xfrm>
            <a:off x="9257991" y="4421456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/ </a:t>
            </a:r>
            <a:r>
              <a:rPr lang="zh-TW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数据转换器</a:t>
            </a:r>
            <a:r>
              <a:rPr lang="en-US" altLang="zh-TW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均衡器</a:t>
            </a:r>
            <a:endParaRPr lang="zh-TW" alt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TW" alt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9D94F40-E025-C125-0669-6AE767B410F6}"/>
              </a:ext>
            </a:extLst>
          </p:cNvPr>
          <p:cNvSpPr txBox="1"/>
          <p:nvPr/>
        </p:nvSpPr>
        <p:spPr>
          <a:xfrm>
            <a:off x="9257991" y="4815156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 </a:t>
            </a:r>
            <a:r>
              <a:rPr lang="zh-CN" altLang="en-US" sz="13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架构、采样保持、前端驱动、</a:t>
            </a:r>
            <a:r>
              <a:rPr lang="en-US" altLang="zh-CN" sz="13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CTLE</a:t>
            </a:r>
            <a:r>
              <a:rPr lang="zh-CN" altLang="en-US" sz="13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00" dirty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DFE</a:t>
            </a:r>
            <a:endParaRPr lang="zh-TW" altLang="en-US" sz="130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3A0EF12-60B1-0139-5FE8-E117A7D83FBA}"/>
              </a:ext>
            </a:extLst>
          </p:cNvPr>
          <p:cNvSpPr/>
          <p:nvPr/>
        </p:nvSpPr>
        <p:spPr>
          <a:xfrm>
            <a:off x="8419791" y="5285056"/>
            <a:ext cx="7112000" cy="863600"/>
          </a:xfrm>
          <a:prstGeom prst="roundRect">
            <a:avLst>
              <a:gd name="adj" fmla="val 8000"/>
            </a:avLst>
          </a:prstGeom>
          <a:solidFill>
            <a:srgbClr val="DDE7F7"/>
          </a:solidFill>
          <a:ln w="12700">
            <a:solidFill>
              <a:srgbClr val="B4C6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D9EB639-413C-97ED-A82D-A1F576B2AE8F}"/>
              </a:ext>
            </a:extLst>
          </p:cNvPr>
          <p:cNvSpPr/>
          <p:nvPr/>
        </p:nvSpPr>
        <p:spPr>
          <a:xfrm>
            <a:off x="8648391" y="5500956"/>
            <a:ext cx="431800" cy="431800"/>
          </a:xfrm>
          <a:prstGeom prst="ellipse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5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TW" altLang="en-US" sz="15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F39CECA-2B43-E767-C9C7-4D29CC818A59}"/>
              </a:ext>
            </a:extLst>
          </p:cNvPr>
          <p:cNvSpPr txBox="1"/>
          <p:nvPr/>
        </p:nvSpPr>
        <p:spPr>
          <a:xfrm>
            <a:off x="9257991" y="5462856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数模混合接口电路</a:t>
            </a:r>
            <a:endParaRPr lang="zh-TW" altLang="en-US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542E3D9-7E1F-C91A-940D-4D047A4FB2D9}"/>
              </a:ext>
            </a:extLst>
          </p:cNvPr>
          <p:cNvSpPr txBox="1"/>
          <p:nvPr/>
        </p:nvSpPr>
        <p:spPr>
          <a:xfrm>
            <a:off x="9257991" y="5856556"/>
            <a:ext cx="6019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PLL / CDR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SerDes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、高速 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TW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MIPI </a:t>
            </a:r>
            <a:r>
              <a:rPr lang="zh-TW" altLang="en-US" sz="130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与片上接口协同</a:t>
            </a:r>
          </a:p>
        </p:txBody>
      </p:sp>
    </p:spTree>
    <p:extLst>
      <p:ext uri="{BB962C8B-B14F-4D97-AF65-F5344CB8AC3E}">
        <p14:creationId xmlns:p14="http://schemas.microsoft.com/office/powerpoint/2010/main" val="15740237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EAA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b="89810"/>
          <a:stretch/>
        </p:blipFill>
        <p:spPr>
          <a:xfrm>
            <a:off x="-10922" y="-21971"/>
            <a:ext cx="16343884" cy="931545"/>
          </a:xfrm>
          <a:prstGeom prst="rect">
            <a:avLst/>
          </a:prstGeom>
        </p:spPr>
      </p:pic>
      <p:pic>
        <p:nvPicPr>
          <p:cNvPr id="3" name="Image 1" descr="https://kimi-img.moonshot.cn/pub/slides/okc/jrh24n62ljpy4/mnt/agents/output/template_convert/images/image_1.png"/>
          <p:cNvPicPr>
            <a:picLocks noChangeAspect="1"/>
          </p:cNvPicPr>
          <p:nvPr/>
        </p:nvPicPr>
        <p:blipFill>
          <a:blip r:embed="rId3"/>
          <a:srcRect l="80" t="11430" r="-80" b="87520"/>
          <a:stretch/>
        </p:blipFill>
        <p:spPr>
          <a:xfrm>
            <a:off x="-10922" y="853440"/>
            <a:ext cx="16272002" cy="60706"/>
          </a:xfrm>
          <a:prstGeom prst="rect">
            <a:avLst/>
          </a:prstGeom>
        </p:spPr>
      </p:pic>
      <p:pic>
        <p:nvPicPr>
          <p:cNvPr id="4" name="Image 2" descr="https://kimi-img.moonshot.cn/pub/slides/okc/jrh24n62ljpy4/mnt/agents/output/template_convert/images/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75" y="81661"/>
            <a:ext cx="3516249" cy="632460"/>
          </a:xfrm>
          <a:prstGeom prst="rect">
            <a:avLst/>
          </a:prstGeom>
        </p:spPr>
      </p:pic>
      <p:pic>
        <p:nvPicPr>
          <p:cNvPr id="5" name="Image 3" descr="https://kimi-img.moonshot.cn/pub/slides/okc/jrh24n62ljpy4/mnt/agents/output/template_convert/images/image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376" y="140081"/>
            <a:ext cx="4220591" cy="665480"/>
          </a:xfrm>
          <a:prstGeom prst="rect">
            <a:avLst/>
          </a:prstGeom>
        </p:spPr>
      </p:pic>
      <p:pic>
        <p:nvPicPr>
          <p:cNvPr id="6" name="Image 4" descr="https://kimi-img.moonshot.cn/pub/slides/okc/jrh24n62ljpy4/mnt/agents/output/template_convert/images/image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624" y="172466"/>
            <a:ext cx="2235454" cy="486537"/>
          </a:xfrm>
          <a:prstGeom prst="rect">
            <a:avLst/>
          </a:prstGeom>
        </p:spPr>
      </p:pic>
      <p:pic>
        <p:nvPicPr>
          <p:cNvPr id="7" name="Image 5" descr="https://kimi-img.moonshot.cn/pub/slides/okc/jrh24n62ljpy4/mnt/agents/output/template_convert/images/image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9433" y="86106"/>
            <a:ext cx="739394" cy="739394"/>
          </a:xfrm>
          <a:prstGeom prst="rect">
            <a:avLst/>
          </a:prstGeom>
        </p:spPr>
      </p:pic>
      <p:pic>
        <p:nvPicPr>
          <p:cNvPr id="8" name="Image 6" descr="https://kimi-img.moonshot.cn/pub/slides/okc/jrh24n62ljpy4/mnt/agents/output/template_convert/images/image_31.png"/>
          <p:cNvPicPr>
            <a:picLocks noChangeAspect="1"/>
          </p:cNvPicPr>
          <p:nvPr/>
        </p:nvPicPr>
        <p:blipFill>
          <a:blip r:embed="rId8">
            <a:alphaModFix amt="75000"/>
          </a:blip>
          <a:stretch>
            <a:fillRect/>
          </a:stretch>
        </p:blipFill>
        <p:spPr>
          <a:xfrm>
            <a:off x="0" y="0"/>
            <a:ext cx="16256000" cy="9139809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2540000" y="4076047"/>
            <a:ext cx="11176000" cy="1016000"/>
          </a:xfrm>
          <a:prstGeom prst="roundRect">
            <a:avLst>
              <a:gd name="adj" fmla="val 15000"/>
            </a:avLst>
          </a:prstGeom>
          <a:solidFill>
            <a:srgbClr val="2F5496">
              <a:alpha val="69020"/>
            </a:srgbClr>
          </a:solidFill>
          <a:ln/>
        </p:spPr>
        <p:txBody>
          <a:bodyPr/>
          <a:lstStyle/>
          <a:p>
            <a:endParaRPr lang="zh-TW" altLang="en-US" dirty="0"/>
          </a:p>
        </p:txBody>
      </p:sp>
      <p:sp>
        <p:nvSpPr>
          <p:cNvPr id="14" name="Text 5"/>
          <p:cNvSpPr/>
          <p:nvPr/>
        </p:nvSpPr>
        <p:spPr>
          <a:xfrm>
            <a:off x="2540000" y="4076047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感谢各位老师，敬请批评指正！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515</Words>
  <Application>Microsoft Office PowerPoint</Application>
  <PresentationFormat>自定义</PresentationFormat>
  <Paragraphs>126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MiSans</vt:lpstr>
      <vt:lpstr>Arial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MIPI CSI-2 协议的高速高可靠图像采集系统设计与仿真验证</dc:title>
  <dc:subject>基于 MIPI CSI-2 协议的高速高可靠图像采集系统设计与仿真验证</dc:subject>
  <dc:creator>Kimi</dc:creator>
  <cp:lastModifiedBy>wt Liu</cp:lastModifiedBy>
  <cp:revision>6</cp:revision>
  <dcterms:created xsi:type="dcterms:W3CDTF">2026-05-29T09:20:41Z</dcterms:created>
  <dcterms:modified xsi:type="dcterms:W3CDTF">2026-05-30T02:00:58Z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 MIPI CSI-2 协议的高速高可靠图像采集系统设计与仿真验证","ContentProducer":"001191110108MACG2KBH8F10000","ProduceID":"19e72feb-80c2-8d28-8000-0000930a0b1f","ReservedCode1":"","ContentPropagator":"001191110108MACG2KBH8F20000","PropagateID":"19e72feb-80c2-8d28-8000-0000930a0b1f","ReservedCode2":""}</vt:lpwstr>
  </property>
</Properties>
</file>