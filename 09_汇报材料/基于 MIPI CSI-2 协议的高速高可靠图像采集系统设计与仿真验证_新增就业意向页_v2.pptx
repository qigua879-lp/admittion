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6256000" cy="9144000"/>
  <p:notesSz cx="9144000" cy="16256000"/>
  <p:embeddedFontLst>
    <p:embeddedFont>
      <p:font typeface="MiSans" panose="02010600030101010101" charset="-122"/>
      <p:regular r:id="rId11"/>
    </p:embeddedFont>
    <p:embeddedFont>
      <p:font typeface="微软雅黑" panose="020B0503020204020204" pitchFamily="34" charset="-122"/>
      <p:regular r:id="rId12"/>
      <p:bold r:id="rId13"/>
    </p:embeddedFont>
    <p:embeddedFont>
      <p:font typeface="微软雅黑" panose="020B0503020204020204" pitchFamily="34" charset="-122"/>
      <p:regular r:id="rId12"/>
      <p:bold r:id="rId13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1101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1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6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-13716" y="959612"/>
            <a:ext cx="16269716" cy="8197977"/>
          </a:xfrm>
          <a:prstGeom prst="rect">
            <a:avLst/>
          </a:prstGeom>
        </p:spPr>
      </p:pic>
      <p:pic>
        <p:nvPicPr>
          <p:cNvPr id="9" name="Image 7" descr="https://kimi-img.moonshot.cn/pub/slides/okc/jrh24n62ljpy4/mnt/agents/output/template_convert/images/image_7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2372975" y="751713"/>
            <a:ext cx="3242437" cy="2690622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0" y="2286000"/>
            <a:ext cx="16256000" cy="1778000"/>
          </a:xfrm>
          <a:prstGeom prst="rect">
            <a:avLst/>
          </a:prstGeom>
          <a:solidFill>
            <a:srgbClr val="2F5496">
              <a:alpha val="72000"/>
            </a:srgbClr>
          </a:solidFill>
          <a:ln/>
        </p:spPr>
      </p:sp>
      <p:sp>
        <p:nvSpPr>
          <p:cNvPr id="11" name="Text 1"/>
          <p:cNvSpPr/>
          <p:nvPr/>
        </p:nvSpPr>
        <p:spPr>
          <a:xfrm>
            <a:off x="508000" y="2311400"/>
            <a:ext cx="152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MIPI CSI-2 协议的高速高可靠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图像采集系统设计与仿真验证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4953000" y="5588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汇报人：刘文涛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日期：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zh-CN" altLang="en-US" sz="36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一、课题目标与阶段定位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148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面向高速图像采集中的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带宽提升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链路同步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数据可靠性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等问题，研究基于 MIPI CSI-2 协议的数字接收前端设计与仿真验证方法。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98500" y="2692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预期主要研究内容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889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2" name="Text 4"/>
          <p:cNvSpPr/>
          <p:nvPr/>
        </p:nvSpPr>
        <p:spPr>
          <a:xfrm>
            <a:off x="889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1320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4" name="Text 6"/>
          <p:cNvSpPr/>
          <p:nvPr/>
        </p:nvSpPr>
        <p:spPr>
          <a:xfrm>
            <a:off x="1714500" y="3276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</a:t>
            </a:r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223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6" name="Text 8"/>
          <p:cNvSpPr/>
          <p:nvPr/>
        </p:nvSpPr>
        <p:spPr>
          <a:xfrm>
            <a:off x="6223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654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8" name="Text 10"/>
          <p:cNvSpPr/>
          <p:nvPr/>
        </p:nvSpPr>
        <p:spPr>
          <a:xfrm>
            <a:off x="7048500" y="3200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 lane 接收与对齐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1430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0" name="Text 12"/>
          <p:cNvSpPr/>
          <p:nvPr/>
        </p:nvSpPr>
        <p:spPr>
          <a:xfrm>
            <a:off x="11430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1861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22" name="Text 14"/>
          <p:cNvSpPr/>
          <p:nvPr/>
        </p:nvSpPr>
        <p:spPr>
          <a:xfrm>
            <a:off x="12255500" y="3276600"/>
            <a:ext cx="330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 校验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889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4" name="Text 16"/>
          <p:cNvSpPr/>
          <p:nvPr/>
        </p:nvSpPr>
        <p:spPr>
          <a:xfrm>
            <a:off x="889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1320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6" name="Text 18"/>
          <p:cNvSpPr/>
          <p:nvPr/>
        </p:nvSpPr>
        <p:spPr>
          <a:xfrm>
            <a:off x="1714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帧行同步与像素重组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223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8" name="Text 20"/>
          <p:cNvSpPr/>
          <p:nvPr/>
        </p:nvSpPr>
        <p:spPr>
          <a:xfrm>
            <a:off x="6223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654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0" name="Text 22"/>
          <p:cNvSpPr/>
          <p:nvPr/>
        </p:nvSpPr>
        <p:spPr>
          <a:xfrm>
            <a:off x="7048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 写入与错误恢复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985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当前阶段进展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98500" y="5080000"/>
            <a:ext cx="14859000" cy="1651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952500" y="5143500"/>
            <a:ext cx="143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已基本实现：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协议解析、ECC/CRC 校验、多 lane 接收与对齐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初步验证：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帧行同步与多格式像素重组已形成系统级验证结果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基础实现：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 写入和错误恢复链路已完成，仍需完善覆盖深度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98500" y="692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后续工作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98500" y="7429500"/>
            <a:ext cx="14859000" cy="1016000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52500" y="7493000"/>
            <a:ext cx="1435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扩展异常注入和多 lane 配置验证 → 补充长期稳定性与参数扫描 → 完善 FPGA 工程约束和结果整理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二、主要进展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系统数据流架构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698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1" name="Text 3"/>
          <p:cNvSpPr/>
          <p:nvPr/>
        </p:nvSpPr>
        <p:spPr>
          <a:xfrm>
            <a:off x="698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D-PHY 数字抽象输入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3365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3" name="Shape 5"/>
          <p:cNvSpPr/>
          <p:nvPr/>
        </p:nvSpPr>
        <p:spPr>
          <a:xfrm>
            <a:off x="3746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4" name="Text 6"/>
          <p:cNvSpPr/>
          <p:nvPr/>
        </p:nvSpPr>
        <p:spPr>
          <a:xfrm>
            <a:off x="3746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包解析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413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6" name="Shape 8"/>
          <p:cNvSpPr/>
          <p:nvPr/>
        </p:nvSpPr>
        <p:spPr>
          <a:xfrm>
            <a:off x="6794500" y="2413000"/>
            <a:ext cx="2286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7" name="Text 9"/>
          <p:cNvSpPr/>
          <p:nvPr/>
        </p:nvSpPr>
        <p:spPr>
          <a:xfrm>
            <a:off x="6794500" y="2413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9080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9" name="Shape 11"/>
          <p:cNvSpPr/>
          <p:nvPr/>
        </p:nvSpPr>
        <p:spPr>
          <a:xfrm>
            <a:off x="9461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20" name="Text 12"/>
          <p:cNvSpPr/>
          <p:nvPr/>
        </p:nvSpPr>
        <p:spPr>
          <a:xfrm>
            <a:off x="9461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FIFO/CDC 与 AXI 写入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2128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22" name="Shape 14"/>
          <p:cNvSpPr/>
          <p:nvPr/>
        </p:nvSpPr>
        <p:spPr>
          <a:xfrm>
            <a:off x="12509500" y="24130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/>
        </p:spPr>
      </p:sp>
      <p:sp>
        <p:nvSpPr>
          <p:cNvPr id="23" name="Text 15"/>
          <p:cNvSpPr/>
          <p:nvPr/>
        </p:nvSpPr>
        <p:spPr>
          <a:xfrm>
            <a:off x="12509500" y="2413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错误监测与状态输出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98500" y="336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已初步实现的主要模块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9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8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 Parser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 / Long 包解析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577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6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Header ECC / Payload CRC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85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104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/ Line Sync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帧行同步控制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9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8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Lane Deskew / Reorder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多通道对齐与重排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577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96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RAW8/10 / RGB888 / YUV422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85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104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 / APB 接口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缓存写入与状态配置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98500" y="6223000"/>
            <a:ext cx="14859000" cy="635000"/>
          </a:xfrm>
          <a:prstGeom prst="roundRect">
            <a:avLst>
              <a:gd name="adj" fmla="val 1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500" y="6413500"/>
            <a:ext cx="203200" cy="2032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9" name="Text 31"/>
          <p:cNvSpPr/>
          <p:nvPr/>
        </p:nvSpPr>
        <p:spPr>
          <a:xfrm>
            <a:off x="1270000" y="6223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 RTL 架构已形成初步原型</a:t>
            </a:r>
            <a:r>
              <a:rPr lang="en-US" sz="2000" dirty="0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，能够支撑功能仿真和机制验证，距离完整板级系统仍有进一步工作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三、可靠性机制与错误处理进展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1016000" y="2032000"/>
            <a:ext cx="3556000" cy="609600"/>
          </a:xfrm>
          <a:prstGeom prst="roundRect">
            <a:avLst>
              <a:gd name="adj" fmla="val 15000"/>
            </a:avLst>
          </a:prstGeom>
          <a:solidFill>
            <a:srgbClr val="ED7D31"/>
          </a:solidFill>
          <a:ln/>
        </p:spPr>
      </p:sp>
      <p:sp>
        <p:nvSpPr>
          <p:cNvPr id="10" name="Text 2"/>
          <p:cNvSpPr/>
          <p:nvPr/>
        </p:nvSpPr>
        <p:spPr>
          <a:xfrm>
            <a:off x="1016000" y="2032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针对问题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698500" y="28575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1244600" y="2857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传输误码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698500" y="36830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1244600" y="3683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行帧错位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98500" y="45085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1244600" y="4508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Lane Skew Overflow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698500" y="5334000"/>
            <a:ext cx="4191000" cy="635000"/>
          </a:xfrm>
          <a:prstGeom prst="roundRect">
            <a:avLst>
              <a:gd name="adj" fmla="val 10000"/>
            </a:avLst>
          </a:prstGeom>
          <a:solidFill>
            <a:srgbClr val="FDF0E8"/>
          </a:solidFill>
          <a:ln w="12700">
            <a:solidFill>
              <a:srgbClr val="E8D0C0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244600" y="5334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写入端阻塞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080000" y="4191000"/>
            <a:ext cx="635000" cy="63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30000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6350000" y="2032000"/>
            <a:ext cx="3556000" cy="609600"/>
          </a:xfrm>
          <a:prstGeom prst="roundRect">
            <a:avLst>
              <a:gd name="adj" fmla="val 15000"/>
            </a:avLst>
          </a:prstGeom>
          <a:solidFill>
            <a:srgbClr val="5B9BD5"/>
          </a:solidFill>
          <a:ln/>
        </p:spPr>
      </p:sp>
      <p:sp>
        <p:nvSpPr>
          <p:cNvPr id="22" name="Text 14"/>
          <p:cNvSpPr/>
          <p:nvPr/>
        </p:nvSpPr>
        <p:spPr>
          <a:xfrm>
            <a:off x="6350000" y="2032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阶段性实现机制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5969000" y="2794000"/>
            <a:ext cx="9588500" cy="48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350000" y="3111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8288" y="134144"/>
                </a:moveTo>
                <a:cubicBezTo>
                  <a:pt x="268288" y="163746"/>
                  <a:pt x="258678" y="191090"/>
                  <a:pt x="242491" y="213276"/>
                </a:cubicBezTo>
                <a:lnTo>
                  <a:pt x="324138" y="294987"/>
                </a:lnTo>
                <a:cubicBezTo>
                  <a:pt x="332199" y="303049"/>
                  <a:pt x="332199" y="316141"/>
                  <a:pt x="324138" y="324202"/>
                </a:cubicBezTo>
                <a:cubicBezTo>
                  <a:pt x="316076" y="332264"/>
                  <a:pt x="302984" y="332264"/>
                  <a:pt x="294923" y="324202"/>
                </a:cubicBezTo>
                <a:lnTo>
                  <a:pt x="213276" y="242491"/>
                </a:lnTo>
                <a:cubicBezTo>
                  <a:pt x="191090" y="258678"/>
                  <a:pt x="163746" y="268288"/>
                  <a:pt x="134144" y="268288"/>
                </a:cubicBezTo>
                <a:cubicBezTo>
                  <a:pt x="60042" y="268288"/>
                  <a:pt x="0" y="208245"/>
                  <a:pt x="0" y="134144"/>
                </a:cubicBezTo>
                <a:cubicBezTo>
                  <a:pt x="0" y="60042"/>
                  <a:pt x="60042" y="0"/>
                  <a:pt x="134144" y="0"/>
                </a:cubicBezTo>
                <a:cubicBezTo>
                  <a:pt x="208245" y="0"/>
                  <a:pt x="268288" y="60042"/>
                  <a:pt x="268288" y="134144"/>
                </a:cubicBezTo>
                <a:close/>
                <a:moveTo>
                  <a:pt x="134144" y="227013"/>
                </a:moveTo>
                <a:cubicBezTo>
                  <a:pt x="185399" y="227013"/>
                  <a:pt x="227013" y="185399"/>
                  <a:pt x="227013" y="134144"/>
                </a:cubicBezTo>
                <a:cubicBezTo>
                  <a:pt x="227013" y="82888"/>
                  <a:pt x="185399" y="41275"/>
                  <a:pt x="134144" y="41275"/>
                </a:cubicBezTo>
                <a:cubicBezTo>
                  <a:pt x="82888" y="41275"/>
                  <a:pt x="41275" y="82888"/>
                  <a:pt x="41275" y="134144"/>
                </a:cubicBezTo>
                <a:cubicBezTo>
                  <a:pt x="41275" y="185399"/>
                  <a:pt x="82888" y="227013"/>
                  <a:pt x="134144" y="227013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25" name="Text 17"/>
          <p:cNvSpPr/>
          <p:nvPr/>
        </p:nvSpPr>
        <p:spPr>
          <a:xfrm>
            <a:off x="6807200" y="3048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 错误检测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807200" y="3454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自动检测并标记 Header 与 Payload 传输错误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350000" y="38735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28" name="Shape 20"/>
          <p:cNvSpPr/>
          <p:nvPr/>
        </p:nvSpPr>
        <p:spPr>
          <a:xfrm>
            <a:off x="6370638" y="40640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144463" y="0"/>
                </a:moveTo>
                <a:cubicBezTo>
                  <a:pt x="133047" y="0"/>
                  <a:pt x="123825" y="9222"/>
                  <a:pt x="123825" y="20638"/>
                </a:cubicBezTo>
                <a:lnTo>
                  <a:pt x="123825" y="22701"/>
                </a:lnTo>
                <a:cubicBezTo>
                  <a:pt x="76746" y="32246"/>
                  <a:pt x="41275" y="73908"/>
                  <a:pt x="41275" y="123825"/>
                </a:cubicBezTo>
                <a:lnTo>
                  <a:pt x="41275" y="137820"/>
                </a:lnTo>
                <a:cubicBezTo>
                  <a:pt x="41275" y="168841"/>
                  <a:pt x="30698" y="198958"/>
                  <a:pt x="11351" y="223207"/>
                </a:cubicBezTo>
                <a:lnTo>
                  <a:pt x="5030" y="231076"/>
                </a:lnTo>
                <a:cubicBezTo>
                  <a:pt x="1741" y="235139"/>
                  <a:pt x="0" y="240169"/>
                  <a:pt x="0" y="245393"/>
                </a:cubicBezTo>
                <a:cubicBezTo>
                  <a:pt x="0" y="258033"/>
                  <a:pt x="10254" y="268288"/>
                  <a:pt x="22895" y="268288"/>
                </a:cubicBezTo>
                <a:lnTo>
                  <a:pt x="265966" y="268288"/>
                </a:lnTo>
                <a:cubicBezTo>
                  <a:pt x="278606" y="268288"/>
                  <a:pt x="288861" y="258033"/>
                  <a:pt x="288861" y="245393"/>
                </a:cubicBezTo>
                <a:cubicBezTo>
                  <a:pt x="288861" y="240169"/>
                  <a:pt x="287119" y="235139"/>
                  <a:pt x="283830" y="231076"/>
                </a:cubicBezTo>
                <a:lnTo>
                  <a:pt x="277510" y="223207"/>
                </a:lnTo>
                <a:cubicBezTo>
                  <a:pt x="258227" y="198958"/>
                  <a:pt x="247650" y="168841"/>
                  <a:pt x="247650" y="137820"/>
                </a:cubicBezTo>
                <a:lnTo>
                  <a:pt x="247650" y="123825"/>
                </a:lnTo>
                <a:cubicBezTo>
                  <a:pt x="247650" y="73908"/>
                  <a:pt x="212179" y="32246"/>
                  <a:pt x="165100" y="22701"/>
                </a:cubicBezTo>
                <a:lnTo>
                  <a:pt x="165100" y="20637"/>
                </a:lnTo>
                <a:cubicBezTo>
                  <a:pt x="165100" y="9222"/>
                  <a:pt x="155878" y="0"/>
                  <a:pt x="144463" y="0"/>
                </a:cubicBezTo>
                <a:close/>
                <a:moveTo>
                  <a:pt x="104477" y="299244"/>
                </a:moveTo>
                <a:cubicBezTo>
                  <a:pt x="109056" y="317044"/>
                  <a:pt x="125244" y="330200"/>
                  <a:pt x="144463" y="330200"/>
                </a:cubicBezTo>
                <a:cubicBezTo>
                  <a:pt x="163681" y="330200"/>
                  <a:pt x="179869" y="317044"/>
                  <a:pt x="184448" y="299244"/>
                </a:cubicBezTo>
                <a:lnTo>
                  <a:pt x="104477" y="299244"/>
                </a:ln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29" name="Text 21"/>
          <p:cNvSpPr/>
          <p:nvPr/>
        </p:nvSpPr>
        <p:spPr>
          <a:xfrm>
            <a:off x="6807200" y="40005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同步异常检测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807200" y="44069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实时监测帧行同步状态与 lane 对齐异常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350000" y="48260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32" name="Shape 24"/>
          <p:cNvSpPr/>
          <p:nvPr/>
        </p:nvSpPr>
        <p:spPr>
          <a:xfrm>
            <a:off x="6350000" y="5016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0638" y="20638"/>
                </a:moveTo>
                <a:cubicBezTo>
                  <a:pt x="32053" y="20638"/>
                  <a:pt x="41275" y="29860"/>
                  <a:pt x="41275" y="41275"/>
                </a:cubicBezTo>
                <a:lnTo>
                  <a:pt x="41275" y="257969"/>
                </a:lnTo>
                <a:cubicBezTo>
                  <a:pt x="41275" y="263644"/>
                  <a:pt x="45918" y="268288"/>
                  <a:pt x="51594" y="268288"/>
                </a:cubicBezTo>
                <a:lnTo>
                  <a:pt x="309563" y="268288"/>
                </a:lnTo>
                <a:cubicBezTo>
                  <a:pt x="320978" y="268288"/>
                  <a:pt x="330200" y="277510"/>
                  <a:pt x="330200" y="288925"/>
                </a:cubicBezTo>
                <a:cubicBezTo>
                  <a:pt x="330200" y="300340"/>
                  <a:pt x="320978" y="309563"/>
                  <a:pt x="309563" y="309563"/>
                </a:cubicBezTo>
                <a:lnTo>
                  <a:pt x="51594" y="309563"/>
                </a:lnTo>
                <a:cubicBezTo>
                  <a:pt x="23088" y="309563"/>
                  <a:pt x="0" y="286474"/>
                  <a:pt x="0" y="257969"/>
                </a:cubicBezTo>
                <a:lnTo>
                  <a:pt x="0" y="41275"/>
                </a:lnTo>
                <a:cubicBezTo>
                  <a:pt x="0" y="29860"/>
                  <a:pt x="9222" y="20638"/>
                  <a:pt x="20638" y="20638"/>
                </a:cubicBezTo>
                <a:close/>
                <a:moveTo>
                  <a:pt x="82550" y="61912"/>
                </a:moveTo>
                <a:cubicBezTo>
                  <a:pt x="82550" y="50497"/>
                  <a:pt x="91772" y="41275"/>
                  <a:pt x="103188" y="41275"/>
                </a:cubicBezTo>
                <a:lnTo>
                  <a:pt x="227013" y="41275"/>
                </a:lnTo>
                <a:cubicBezTo>
                  <a:pt x="238428" y="41275"/>
                  <a:pt x="247650" y="50497"/>
                  <a:pt x="247650" y="61912"/>
                </a:cubicBezTo>
                <a:cubicBezTo>
                  <a:pt x="247650" y="73328"/>
                  <a:pt x="238428" y="82550"/>
                  <a:pt x="227013" y="82550"/>
                </a:cubicBezTo>
                <a:lnTo>
                  <a:pt x="103188" y="82550"/>
                </a:lnTo>
                <a:cubicBezTo>
                  <a:pt x="91772" y="82550"/>
                  <a:pt x="82550" y="73328"/>
                  <a:pt x="82550" y="61912"/>
                </a:cubicBezTo>
                <a:close/>
                <a:moveTo>
                  <a:pt x="103188" y="113506"/>
                </a:moveTo>
                <a:lnTo>
                  <a:pt x="185738" y="113506"/>
                </a:lnTo>
                <a:cubicBezTo>
                  <a:pt x="197153" y="113506"/>
                  <a:pt x="206375" y="122729"/>
                  <a:pt x="206375" y="134144"/>
                </a:cubicBezTo>
                <a:cubicBezTo>
                  <a:pt x="206375" y="145559"/>
                  <a:pt x="197153" y="154781"/>
                  <a:pt x="185738" y="154781"/>
                </a:cubicBezTo>
                <a:lnTo>
                  <a:pt x="103188" y="154781"/>
                </a:lnTo>
                <a:cubicBezTo>
                  <a:pt x="91772" y="154781"/>
                  <a:pt x="82550" y="145559"/>
                  <a:pt x="82550" y="134144"/>
                </a:cubicBezTo>
                <a:cubicBezTo>
                  <a:pt x="82550" y="122729"/>
                  <a:pt x="91772" y="113506"/>
                  <a:pt x="103188" y="113506"/>
                </a:cubicBezTo>
                <a:close/>
                <a:moveTo>
                  <a:pt x="103188" y="185738"/>
                </a:moveTo>
                <a:lnTo>
                  <a:pt x="268288" y="185738"/>
                </a:lnTo>
                <a:cubicBezTo>
                  <a:pt x="279703" y="185738"/>
                  <a:pt x="288925" y="194960"/>
                  <a:pt x="288925" y="206375"/>
                </a:cubicBezTo>
                <a:cubicBezTo>
                  <a:pt x="288925" y="217790"/>
                  <a:pt x="279703" y="227013"/>
                  <a:pt x="268288" y="227013"/>
                </a:cubicBezTo>
                <a:lnTo>
                  <a:pt x="103188" y="227013"/>
                </a:lnTo>
                <a:cubicBezTo>
                  <a:pt x="91772" y="227013"/>
                  <a:pt x="82550" y="217790"/>
                  <a:pt x="82550" y="206375"/>
                </a:cubicBezTo>
                <a:cubicBezTo>
                  <a:pt x="82550" y="194960"/>
                  <a:pt x="91772" y="185738"/>
                  <a:pt x="103188" y="185738"/>
                </a:cubicBezTo>
                <a:close/>
              </a:path>
            </a:pathLst>
          </a:custGeom>
          <a:solidFill>
            <a:srgbClr val="4472C4"/>
          </a:solidFill>
          <a:ln/>
        </p:spPr>
      </p:sp>
      <p:sp>
        <p:nvSpPr>
          <p:cNvPr id="33" name="Text 25"/>
          <p:cNvSpPr/>
          <p:nvPr/>
        </p:nvSpPr>
        <p:spPr>
          <a:xfrm>
            <a:off x="6807200" y="4953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错误计数与状态输出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807200" y="5359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统计异常事件并通过 APB 接口上报状态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350000" y="57785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36" name="Shape 28"/>
          <p:cNvSpPr/>
          <p:nvPr/>
        </p:nvSpPr>
        <p:spPr>
          <a:xfrm>
            <a:off x="6350000" y="5969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9627" y="123825"/>
                </a:moveTo>
                <a:lnTo>
                  <a:pt x="314722" y="123825"/>
                </a:lnTo>
                <a:cubicBezTo>
                  <a:pt x="323299" y="123825"/>
                  <a:pt x="330200" y="116924"/>
                  <a:pt x="330200" y="108347"/>
                </a:cubicBezTo>
                <a:lnTo>
                  <a:pt x="330200" y="15478"/>
                </a:lnTo>
                <a:cubicBezTo>
                  <a:pt x="330200" y="9222"/>
                  <a:pt x="326459" y="3547"/>
                  <a:pt x="320655" y="1161"/>
                </a:cubicBezTo>
                <a:cubicBezTo>
                  <a:pt x="314851" y="-1225"/>
                  <a:pt x="308208" y="129"/>
                  <a:pt x="303758" y="4514"/>
                </a:cubicBezTo>
                <a:lnTo>
                  <a:pt x="270416" y="37921"/>
                </a:lnTo>
                <a:cubicBezTo>
                  <a:pt x="241846" y="14253"/>
                  <a:pt x="205085" y="0"/>
                  <a:pt x="165100" y="0"/>
                </a:cubicBezTo>
                <a:cubicBezTo>
                  <a:pt x="81905" y="0"/>
                  <a:pt x="13092" y="61526"/>
                  <a:pt x="1677" y="141560"/>
                </a:cubicBezTo>
                <a:cubicBezTo>
                  <a:pt x="64" y="152846"/>
                  <a:pt x="7868" y="163294"/>
                  <a:pt x="19154" y="164907"/>
                </a:cubicBezTo>
                <a:cubicBezTo>
                  <a:pt x="30440" y="166519"/>
                  <a:pt x="40888" y="158651"/>
                  <a:pt x="42500" y="147429"/>
                </a:cubicBezTo>
                <a:cubicBezTo>
                  <a:pt x="51078" y="87387"/>
                  <a:pt x="102736" y="41275"/>
                  <a:pt x="165100" y="41275"/>
                </a:cubicBezTo>
                <a:cubicBezTo>
                  <a:pt x="193735" y="41275"/>
                  <a:pt x="220047" y="50949"/>
                  <a:pt x="241007" y="67265"/>
                </a:cubicBezTo>
                <a:lnTo>
                  <a:pt x="210889" y="97383"/>
                </a:lnTo>
                <a:cubicBezTo>
                  <a:pt x="206439" y="101833"/>
                  <a:pt x="205150" y="108476"/>
                  <a:pt x="207536" y="114280"/>
                </a:cubicBezTo>
                <a:cubicBezTo>
                  <a:pt x="209922" y="120084"/>
                  <a:pt x="215597" y="123825"/>
                  <a:pt x="221853" y="123825"/>
                </a:cubicBezTo>
                <a:lnTo>
                  <a:pt x="309627" y="123825"/>
                </a:lnTo>
                <a:close/>
                <a:moveTo>
                  <a:pt x="328588" y="188640"/>
                </a:moveTo>
                <a:cubicBezTo>
                  <a:pt x="330200" y="177354"/>
                  <a:pt x="322332" y="166906"/>
                  <a:pt x="311110" y="165293"/>
                </a:cubicBezTo>
                <a:cubicBezTo>
                  <a:pt x="299889" y="163681"/>
                  <a:pt x="289376" y="171549"/>
                  <a:pt x="287764" y="182771"/>
                </a:cubicBezTo>
                <a:cubicBezTo>
                  <a:pt x="279187" y="242749"/>
                  <a:pt x="227528" y="288861"/>
                  <a:pt x="165164" y="288861"/>
                </a:cubicBezTo>
                <a:cubicBezTo>
                  <a:pt x="136530" y="288861"/>
                  <a:pt x="110217" y="279187"/>
                  <a:pt x="89257" y="262870"/>
                </a:cubicBezTo>
                <a:lnTo>
                  <a:pt x="119311" y="232817"/>
                </a:lnTo>
                <a:cubicBezTo>
                  <a:pt x="123761" y="228367"/>
                  <a:pt x="125050" y="221724"/>
                  <a:pt x="122664" y="215920"/>
                </a:cubicBezTo>
                <a:cubicBezTo>
                  <a:pt x="120278" y="210116"/>
                  <a:pt x="114603" y="206375"/>
                  <a:pt x="108347" y="206375"/>
                </a:cubicBezTo>
                <a:lnTo>
                  <a:pt x="15478" y="206375"/>
                </a:lnTo>
                <a:cubicBezTo>
                  <a:pt x="6901" y="206375"/>
                  <a:pt x="0" y="213276"/>
                  <a:pt x="0" y="221853"/>
                </a:cubicBezTo>
                <a:lnTo>
                  <a:pt x="0" y="314722"/>
                </a:lnTo>
                <a:cubicBezTo>
                  <a:pt x="0" y="320978"/>
                  <a:pt x="3741" y="326653"/>
                  <a:pt x="9545" y="329039"/>
                </a:cubicBezTo>
                <a:cubicBezTo>
                  <a:pt x="15349" y="331425"/>
                  <a:pt x="21992" y="330071"/>
                  <a:pt x="26442" y="325686"/>
                </a:cubicBezTo>
                <a:lnTo>
                  <a:pt x="59849" y="292279"/>
                </a:lnTo>
                <a:cubicBezTo>
                  <a:pt x="88354" y="315947"/>
                  <a:pt x="125115" y="330200"/>
                  <a:pt x="165100" y="330200"/>
                </a:cubicBezTo>
                <a:cubicBezTo>
                  <a:pt x="248295" y="330200"/>
                  <a:pt x="317108" y="268674"/>
                  <a:pt x="328523" y="188640"/>
                </a:cubicBez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37" name="Text 29"/>
          <p:cNvSpPr/>
          <p:nvPr/>
        </p:nvSpPr>
        <p:spPr>
          <a:xfrm>
            <a:off x="6807200" y="59055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Resync 恢复流程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807200" y="63119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检测到同步异常后触发清除与自动恢复过程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350000" y="6731000"/>
            <a:ext cx="8890000" cy="12700"/>
          </a:xfrm>
          <a:prstGeom prst="rect">
            <a:avLst/>
          </a:prstGeom>
          <a:solidFill>
            <a:srgbClr val="E1E4E8"/>
          </a:solidFill>
          <a:ln/>
        </p:spPr>
      </p:sp>
      <p:sp>
        <p:nvSpPr>
          <p:cNvPr id="40" name="Shape 32"/>
          <p:cNvSpPr/>
          <p:nvPr/>
        </p:nvSpPr>
        <p:spPr>
          <a:xfrm>
            <a:off x="6350000" y="6921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219531" y="137175"/>
                </a:moveTo>
                <a:lnTo>
                  <a:pt x="167938" y="219725"/>
                </a:lnTo>
                <a:cubicBezTo>
                  <a:pt x="165229" y="224046"/>
                  <a:pt x="160586" y="226755"/>
                  <a:pt x="155491" y="227013"/>
                </a:cubicBezTo>
                <a:cubicBezTo>
                  <a:pt x="150396" y="227270"/>
                  <a:pt x="145494" y="224949"/>
                  <a:pt x="142463" y="220821"/>
                </a:cubicBezTo>
                <a:lnTo>
                  <a:pt x="111507" y="179546"/>
                </a:lnTo>
                <a:cubicBezTo>
                  <a:pt x="106348" y="172710"/>
                  <a:pt x="107766" y="163036"/>
                  <a:pt x="114603" y="157877"/>
                </a:cubicBezTo>
                <a:cubicBezTo>
                  <a:pt x="121439" y="152718"/>
                  <a:pt x="131113" y="154136"/>
                  <a:pt x="136272" y="160973"/>
                </a:cubicBezTo>
                <a:lnTo>
                  <a:pt x="153685" y="184190"/>
                </a:lnTo>
                <a:lnTo>
                  <a:pt x="193283" y="120794"/>
                </a:lnTo>
                <a:cubicBezTo>
                  <a:pt x="197798" y="113571"/>
                  <a:pt x="207342" y="111314"/>
                  <a:pt x="214630" y="115892"/>
                </a:cubicBezTo>
                <a:cubicBezTo>
                  <a:pt x="221918" y="120471"/>
                  <a:pt x="224110" y="129952"/>
                  <a:pt x="219531" y="137239"/>
                </a:cubicBezTo>
                <a:close/>
              </a:path>
            </a:pathLst>
          </a:custGeom>
          <a:solidFill>
            <a:srgbClr val="70AD47"/>
          </a:solidFill>
          <a:ln/>
        </p:spPr>
      </p:sp>
      <p:sp>
        <p:nvSpPr>
          <p:cNvPr id="41" name="Text 33"/>
          <p:cNvSpPr/>
          <p:nvPr/>
        </p:nvSpPr>
        <p:spPr>
          <a:xfrm>
            <a:off x="6807200" y="6858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恢复后 Clean Frame 输出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6807200" y="72644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确保异常恢复后输出帧数据完整可用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152400" y="7874000"/>
            <a:ext cx="15938500" cy="762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4" name="Text 36"/>
          <p:cNvSpPr/>
          <p:nvPr/>
        </p:nvSpPr>
        <p:spPr>
          <a:xfrm>
            <a:off x="381000" y="78740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现阶段已完成基础机制闭合和基本功能验证，后续需扩展到更多 lane 配置和异常组合条件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四、阶段性仿真与实现结果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代表性 Testbench 与阶段性验证结果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349500"/>
          <a:ext cx="14859000" cy="3682999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Testbench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阶段性结果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协议解析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Packet 字段解析、payload 边界识别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tb_short/long_packet_parser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编译运行完成，字段提取符合预期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ECC/CRC 校验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Header ECC / Payload CRC 检测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tb_header_ecc, tb_payload_crc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级可观察错误输出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lane 对齐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lane deskew、reorder、skew 容忍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tb_lane_deskew, tb_lane_reorder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1/2/4 lane 基础验证完成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帧行同步与像素重组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FS/FE/LS/LE 标记、多格式像素重组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tb_frame_line_sync, tb_raw8_unpack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级已有 smoke 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系统主链路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输入到像素输出闭环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tb_fpga_wrapper_raw8_smoke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RAW8 主链路 exp=act，信号正常闭合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缓存与 AXI 写入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FIFO/CDC、AXI 写事务、阻塞恢复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tb_axi_write_master, tb_async_fifo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阻塞释放后写事务可继续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请求、清除、clean frame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tb_resync_ctrl, tb_fpga_wrapper_resync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链路已闭合，clean frame 已验证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2"/>
          <p:cNvSpPr/>
          <p:nvPr/>
        </p:nvSpPr>
        <p:spPr>
          <a:xfrm>
            <a:off x="698500" y="622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Wrapper 可综合初步评估</a:t>
            </a:r>
            <a:endParaRPr lang="en-US" sz="1600" dirty="0"/>
          </a:p>
        </p:txBody>
      </p:sp>
      <p:sp>
        <p:nvSpPr>
          <p:cNvPr id="12" name="Shape 3"/>
          <p:cNvSpPr/>
          <p:nvPr/>
        </p:nvSpPr>
        <p:spPr>
          <a:xfrm>
            <a:off x="698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698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LUT 使用量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698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618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3810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3810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FF 使用量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3810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1135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921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921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Routed WNS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6921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1.884 ns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10033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10033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TNS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10033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98500" y="7810500"/>
            <a:ext cx="148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注：基于当前 wrapper 原型和占位约束，BRAM/DSP 使用量为 0，不等同于最终板级实现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五、待完善工作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1016000" y="21590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0" name="Text 2"/>
          <p:cNvSpPr/>
          <p:nvPr/>
        </p:nvSpPr>
        <p:spPr>
          <a:xfrm>
            <a:off x="1016000" y="215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1574800" y="229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2" name="Shape 4"/>
          <p:cNvSpPr/>
          <p:nvPr/>
        </p:nvSpPr>
        <p:spPr>
          <a:xfrm>
            <a:off x="2032000" y="209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3" name="Text 5"/>
          <p:cNvSpPr/>
          <p:nvPr/>
        </p:nvSpPr>
        <p:spPr>
          <a:xfrm>
            <a:off x="2222500" y="209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研究范围聚焦数字 RTL 接收前端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，输入侧采用 D-PHY 数字抽象接口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1016000" y="31115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5" name="Text 7"/>
          <p:cNvSpPr/>
          <p:nvPr/>
        </p:nvSpPr>
        <p:spPr>
          <a:xfrm>
            <a:off x="1016000" y="3111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1574800" y="3251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7" name="Shape 9"/>
          <p:cNvSpPr/>
          <p:nvPr/>
        </p:nvSpPr>
        <p:spPr>
          <a:xfrm>
            <a:off x="2032000" y="3048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8" name="Text 10"/>
          <p:cNvSpPr/>
          <p:nvPr/>
        </p:nvSpPr>
        <p:spPr>
          <a:xfrm>
            <a:off x="2222500" y="3048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长时间稳定性和随机阻塞测试仍需补充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，需更大帧尺寸和更复杂异常组合验证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016000" y="40640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Text 12"/>
          <p:cNvSpPr/>
          <p:nvPr/>
        </p:nvSpPr>
        <p:spPr>
          <a:xfrm>
            <a:off x="1016000" y="406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574800" y="4203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2" name="Shape 14"/>
          <p:cNvSpPr/>
          <p:nvPr/>
        </p:nvSpPr>
        <p:spPr>
          <a:xfrm>
            <a:off x="2032000" y="4000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3" name="Text 15"/>
          <p:cNvSpPr/>
          <p:nvPr/>
        </p:nvSpPr>
        <p:spPr>
          <a:xfrm>
            <a:off x="2222500" y="4000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写入需结合完整 DDR 控制器系统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，完善存储端写入的工程化验证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1016000" y="50165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5" name="Text 17"/>
          <p:cNvSpPr/>
          <p:nvPr/>
        </p:nvSpPr>
        <p:spPr>
          <a:xfrm>
            <a:off x="1016000" y="501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574800" y="5156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7" name="Shape 19"/>
          <p:cNvSpPr/>
          <p:nvPr/>
        </p:nvSpPr>
        <p:spPr>
          <a:xfrm>
            <a:off x="2032000" y="4953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8" name="Text 20"/>
          <p:cNvSpPr/>
          <p:nvPr/>
        </p:nvSpPr>
        <p:spPr>
          <a:xfrm>
            <a:off x="2222500" y="4953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工程约束和 bitstream 级 DRC 仍需完善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，包括板级 IO 约束和时钟约束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16000" y="5969000"/>
            <a:ext cx="558800" cy="5588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0" name="Text 22"/>
          <p:cNvSpPr/>
          <p:nvPr/>
        </p:nvSpPr>
        <p:spPr>
          <a:xfrm>
            <a:off x="1016000" y="596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574800" y="610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32" name="Shape 24"/>
          <p:cNvSpPr/>
          <p:nvPr/>
        </p:nvSpPr>
        <p:spPr>
          <a:xfrm>
            <a:off x="2032000" y="590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33" name="Text 25"/>
          <p:cNvSpPr/>
          <p:nvPr/>
        </p:nvSpPr>
        <p:spPr>
          <a:xfrm>
            <a:off x="2222500" y="590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需整理论文实验材料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：系统架构图、验证矩阵、关键波形、资源与时序表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152400" y="7048500"/>
            <a:ext cx="15938500" cy="7620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27"/>
          <p:cNvSpPr/>
          <p:nvPr/>
        </p:nvSpPr>
        <p:spPr>
          <a:xfrm>
            <a:off x="381000" y="70485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当前研究已形成阶段性 RTL 原型与仿真结果，后续围绕验证覆盖度和工程完整性继续推进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801A299-1BAF-EB83-FE14-851676A03F40}"/>
              </a:ext>
            </a:extLst>
          </p:cNvPr>
          <p:cNvSpPr txBox="1"/>
          <p:nvPr/>
        </p:nvSpPr>
        <p:spPr>
          <a:xfrm>
            <a:off x="711200" y="1219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六、意向工作单位类型与工作方向</a:t>
            </a:r>
            <a:endParaRPr lang="zh-TW" altLang="en-US" sz="3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769DEA-D276-EEAE-ED34-47ECA2D59161}"/>
              </a:ext>
            </a:extLst>
          </p:cNvPr>
          <p:cNvSpPr txBox="1"/>
          <p:nvPr/>
        </p:nvSpPr>
        <p:spPr>
          <a:xfrm>
            <a:off x="711200" y="2070100"/>
            <a:ext cx="1441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00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面向大厂模拟 </a:t>
            </a:r>
            <a:r>
              <a:rPr lang="en-US" altLang="zh-CN" sz="200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 / </a:t>
            </a:r>
            <a:r>
              <a:rPr lang="zh-CN" altLang="en-US" sz="200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数模混合芯片岗位，重点关注高速接口、数据转换与链路信号完整性相关方向。</a:t>
            </a:r>
            <a:endParaRPr lang="zh-TW" altLang="en-US" sz="200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1EC643D-1EA2-DD75-3E51-61D55D0B6C80}"/>
              </a:ext>
            </a:extLst>
          </p:cNvPr>
          <p:cNvSpPr/>
          <p:nvPr/>
        </p:nvSpPr>
        <p:spPr>
          <a:xfrm>
            <a:off x="1016000" y="2794000"/>
            <a:ext cx="4445000" cy="60960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意向工作单位类型</a:t>
            </a:r>
            <a:endParaRPr lang="zh-TW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09F546C-8F96-3344-4D1B-FD2DA5B43658}"/>
              </a:ext>
            </a:extLst>
          </p:cNvPr>
          <p:cNvSpPr/>
          <p:nvPr/>
        </p:nvSpPr>
        <p:spPr>
          <a:xfrm>
            <a:off x="9271000" y="2794000"/>
            <a:ext cx="4445000" cy="609600"/>
          </a:xfrm>
          <a:prstGeom prst="roundRect">
            <a:avLst>
              <a:gd name="adj" fmla="val 20000"/>
            </a:avLst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目标工作方向</a:t>
            </a:r>
            <a:endParaRPr lang="zh-TW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636CCDA-DCAE-2904-E1D5-25164F8CA094}"/>
              </a:ext>
            </a:extLst>
          </p:cNvPr>
          <p:cNvSpPr/>
          <p:nvPr/>
        </p:nvSpPr>
        <p:spPr>
          <a:xfrm>
            <a:off x="889000" y="3708400"/>
            <a:ext cx="6413500" cy="9906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BB8D86F-0699-BD4E-F976-5E1B05D44B67}"/>
              </a:ext>
            </a:extLst>
          </p:cNvPr>
          <p:cNvSpPr/>
          <p:nvPr/>
        </p:nvSpPr>
        <p:spPr>
          <a:xfrm>
            <a:off x="1117600" y="39243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7069D7-67DF-7388-2000-B0B4ADDBCC9F}"/>
              </a:ext>
            </a:extLst>
          </p:cNvPr>
          <p:cNvSpPr txBox="1"/>
          <p:nvPr/>
        </p:nvSpPr>
        <p:spPr>
          <a:xfrm>
            <a:off x="1727200" y="38862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大型芯片设计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半导体企业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B6380F-D8C1-BC7E-2F90-21944AA029D0}"/>
              </a:ext>
            </a:extLst>
          </p:cNvPr>
          <p:cNvSpPr txBox="1"/>
          <p:nvPr/>
        </p:nvSpPr>
        <p:spPr>
          <a:xfrm>
            <a:off x="1727200" y="42799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、数模混合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、高速接口与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SerDes / PHY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相关团队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0122324-0B25-B709-D93B-CF73F031BB8C}"/>
              </a:ext>
            </a:extLst>
          </p:cNvPr>
          <p:cNvSpPr/>
          <p:nvPr/>
        </p:nvSpPr>
        <p:spPr>
          <a:xfrm>
            <a:off x="889000" y="4927600"/>
            <a:ext cx="6413500" cy="9906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C8B129EA-6A2D-BF13-50D5-C9B4FE5790D6}"/>
              </a:ext>
            </a:extLst>
          </p:cNvPr>
          <p:cNvSpPr/>
          <p:nvPr/>
        </p:nvSpPr>
        <p:spPr>
          <a:xfrm>
            <a:off x="1117600" y="51435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4600164-442D-4002-AA0B-659C9530A3C2}"/>
              </a:ext>
            </a:extLst>
          </p:cNvPr>
          <p:cNvSpPr txBox="1"/>
          <p:nvPr/>
        </p:nvSpPr>
        <p:spPr>
          <a:xfrm>
            <a:off x="1727200" y="51054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影像、通信、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芯片平台团队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6C7F47E-F75F-05EE-DF35-55EC39B72B8E}"/>
              </a:ext>
            </a:extLst>
          </p:cNvPr>
          <p:cNvSpPr txBox="1"/>
          <p:nvPr/>
        </p:nvSpPr>
        <p:spPr>
          <a:xfrm>
            <a:off x="1727200" y="54991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图像传感器接口、</a:t>
            </a:r>
            <a:r>
              <a:rPr lang="en-US" altLang="zh-CN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/ DAC</a:t>
            </a:r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AFE</a:t>
            </a:r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、时钟与数据恢复等方向</a:t>
            </a:r>
            <a:endParaRPr lang="zh-TW" altLang="en-US" sz="13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26627DA-7327-8907-6EEE-47EE2CF23844}"/>
              </a:ext>
            </a:extLst>
          </p:cNvPr>
          <p:cNvSpPr/>
          <p:nvPr/>
        </p:nvSpPr>
        <p:spPr>
          <a:xfrm>
            <a:off x="889000" y="6146800"/>
            <a:ext cx="6413500" cy="9906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ECCC8EBA-6D95-8B79-51D1-FBE518EC3085}"/>
              </a:ext>
            </a:extLst>
          </p:cNvPr>
          <p:cNvSpPr/>
          <p:nvPr/>
        </p:nvSpPr>
        <p:spPr>
          <a:xfrm>
            <a:off x="1117600" y="63627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824ECE2-E99A-46E3-DDE1-607E5B244F66}"/>
              </a:ext>
            </a:extLst>
          </p:cNvPr>
          <p:cNvSpPr txBox="1"/>
          <p:nvPr/>
        </p:nvSpPr>
        <p:spPr>
          <a:xfrm>
            <a:off x="1727200" y="63246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车载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 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消费电子芯片团队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2840FBF-53A3-E060-8058-7C1D478D2F26}"/>
              </a:ext>
            </a:extLst>
          </p:cNvPr>
          <p:cNvSpPr txBox="1"/>
          <p:nvPr/>
        </p:nvSpPr>
        <p:spPr>
          <a:xfrm>
            <a:off x="1727200" y="6718300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高可靠采集链路、模拟前端、接口芯片与系统级验证支撑</a:t>
            </a:r>
            <a:endParaRPr lang="zh-TW" altLang="en-US" sz="13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9500E00-A13C-F7C6-D1FD-86BE66B48C86}"/>
              </a:ext>
            </a:extLst>
          </p:cNvPr>
          <p:cNvSpPr/>
          <p:nvPr/>
        </p:nvSpPr>
        <p:spPr>
          <a:xfrm>
            <a:off x="8509000" y="3708400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2DEE88B0-7C78-4B83-44E9-876E5B3B2D19}"/>
              </a:ext>
            </a:extLst>
          </p:cNvPr>
          <p:cNvSpPr/>
          <p:nvPr/>
        </p:nvSpPr>
        <p:spPr>
          <a:xfrm>
            <a:off x="8737600" y="3924300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CBC0F0A-BA99-5A98-E133-0D8D74D22B7A}"/>
              </a:ext>
            </a:extLst>
          </p:cNvPr>
          <p:cNvSpPr txBox="1"/>
          <p:nvPr/>
        </p:nvSpPr>
        <p:spPr>
          <a:xfrm>
            <a:off x="9347200" y="38862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/ </a:t>
            </a:r>
            <a:r>
              <a:rPr lang="zh-TW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数据转换器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9D94F40-E025-C125-0669-6AE767B410F6}"/>
              </a:ext>
            </a:extLst>
          </p:cNvPr>
          <p:cNvSpPr txBox="1"/>
          <p:nvPr/>
        </p:nvSpPr>
        <p:spPr>
          <a:xfrm>
            <a:off x="9347200" y="42799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架构、采样保持、前端驱动、噪声与线性度分析</a:t>
            </a:r>
            <a:endParaRPr lang="zh-TW" altLang="en-US" sz="13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3A0EF12-60B1-0139-5FE8-E117A7D83FBA}"/>
              </a:ext>
            </a:extLst>
          </p:cNvPr>
          <p:cNvSpPr/>
          <p:nvPr/>
        </p:nvSpPr>
        <p:spPr>
          <a:xfrm>
            <a:off x="8509000" y="4749800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D9EB639-413C-97ED-A82D-A1F576B2AE8F}"/>
              </a:ext>
            </a:extLst>
          </p:cNvPr>
          <p:cNvSpPr/>
          <p:nvPr/>
        </p:nvSpPr>
        <p:spPr>
          <a:xfrm>
            <a:off x="8737600" y="4965700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F39CECA-2B43-E767-C9C7-4D29CC818A59}"/>
              </a:ext>
            </a:extLst>
          </p:cNvPr>
          <p:cNvSpPr txBox="1"/>
          <p:nvPr/>
        </p:nvSpPr>
        <p:spPr>
          <a:xfrm>
            <a:off x="9347200" y="49276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数模混合接口电路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542E3D9-7E1F-C91A-940D-4D047A4FB2D9}"/>
              </a:ext>
            </a:extLst>
          </p:cNvPr>
          <p:cNvSpPr txBox="1"/>
          <p:nvPr/>
        </p:nvSpPr>
        <p:spPr>
          <a:xfrm>
            <a:off x="9347200" y="53213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PLL / CDR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SerDes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、高速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MIPI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与片上接口协同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EEDD229-019C-098F-E07E-98BB291F230A}"/>
              </a:ext>
            </a:extLst>
          </p:cNvPr>
          <p:cNvSpPr/>
          <p:nvPr/>
        </p:nvSpPr>
        <p:spPr>
          <a:xfrm>
            <a:off x="8509000" y="5791200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B6F09F79-3F0D-CDCF-6568-A3ACC5F73954}"/>
              </a:ext>
            </a:extLst>
          </p:cNvPr>
          <p:cNvSpPr/>
          <p:nvPr/>
        </p:nvSpPr>
        <p:spPr>
          <a:xfrm>
            <a:off x="8737600" y="6007100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E0D01C7-6582-6C58-031F-2867DB2D1556}"/>
              </a:ext>
            </a:extLst>
          </p:cNvPr>
          <p:cNvSpPr txBox="1"/>
          <p:nvPr/>
        </p:nvSpPr>
        <p:spPr>
          <a:xfrm>
            <a:off x="9347200" y="59690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均衡器与高速链路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6498AAE-156A-1D4A-F7F0-141CD5853FB5}"/>
              </a:ext>
            </a:extLst>
          </p:cNvPr>
          <p:cNvSpPr txBox="1"/>
          <p:nvPr/>
        </p:nvSpPr>
        <p:spPr>
          <a:xfrm>
            <a:off x="9347200" y="63627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CTLE / DFE</a:t>
            </a:r>
            <a:r>
              <a:rPr lang="zh-CN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、信道补偿、抖动、眼图与链路鲁棒性分析</a:t>
            </a:r>
            <a:endParaRPr lang="zh-TW" altLang="en-US" sz="130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FE0D1BCB-CF82-115A-F022-0961754C5CEA}"/>
              </a:ext>
            </a:extLst>
          </p:cNvPr>
          <p:cNvSpPr/>
          <p:nvPr/>
        </p:nvSpPr>
        <p:spPr>
          <a:xfrm>
            <a:off x="8509000" y="6832600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7356685-D0AF-5A2E-A7FF-DFE0EEE13272}"/>
              </a:ext>
            </a:extLst>
          </p:cNvPr>
          <p:cNvSpPr/>
          <p:nvPr/>
        </p:nvSpPr>
        <p:spPr>
          <a:xfrm>
            <a:off x="8737600" y="7048500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D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53AEAA8-17C9-4FF3-1ABB-91A83C57D01A}"/>
              </a:ext>
            </a:extLst>
          </p:cNvPr>
          <p:cNvSpPr txBox="1"/>
          <p:nvPr/>
        </p:nvSpPr>
        <p:spPr>
          <a:xfrm>
            <a:off x="9347200" y="70104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验证与建模能力延伸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BBF1674-433A-A5C4-DAC6-AD9DD9B76A7A}"/>
              </a:ext>
            </a:extLst>
          </p:cNvPr>
          <p:cNvSpPr txBox="1"/>
          <p:nvPr/>
        </p:nvSpPr>
        <p:spPr>
          <a:xfrm>
            <a:off x="9347200" y="7404100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SystemVerilog / AMS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建模、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MATLAB/Python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仿真、版图前后仿真协同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06BAFEA0-7274-D050-9BDA-C15D27774D83}"/>
              </a:ext>
            </a:extLst>
          </p:cNvPr>
          <p:cNvSpPr/>
          <p:nvPr/>
        </p:nvSpPr>
        <p:spPr>
          <a:xfrm>
            <a:off x="711200" y="8064500"/>
            <a:ext cx="14833600" cy="609600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2700">
            <a:solidFill>
              <a:srgbClr val="C6E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08745EF-5079-30B0-78F2-AD7396EE1D76}"/>
              </a:ext>
            </a:extLst>
          </p:cNvPr>
          <p:cNvSpPr/>
          <p:nvPr/>
        </p:nvSpPr>
        <p:spPr>
          <a:xfrm>
            <a:off x="1041400" y="8255000"/>
            <a:ext cx="228600" cy="228600"/>
          </a:xfrm>
          <a:prstGeom prst="ellipse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CB3C856-9EA6-32D7-03B1-8EB2789675B1}"/>
              </a:ext>
            </a:extLst>
          </p:cNvPr>
          <p:cNvSpPr txBox="1"/>
          <p:nvPr/>
        </p:nvSpPr>
        <p:spPr>
          <a:xfrm>
            <a:off x="1422400" y="8204200"/>
            <a:ext cx="135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 </a:t>
            </a:r>
            <a:r>
              <a:rPr lang="en-US" altLang="zh-CN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MIPI CSI-2 </a:t>
            </a:r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数字接收、</a:t>
            </a:r>
            <a:r>
              <a:rPr lang="en-US" altLang="zh-CN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ECC/CRC</a:t>
            </a:r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lane </a:t>
            </a:r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对齐与系统仿真经验，可向“高速接口 </a:t>
            </a:r>
            <a:r>
              <a:rPr lang="en-US" altLang="zh-CN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数模混合验证 </a:t>
            </a:r>
            <a:r>
              <a:rPr lang="en-US" altLang="zh-CN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700" b="1">
                <a:solidFill>
                  <a:srgbClr val="375F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模拟前端理解”方向延伸。</a:t>
            </a:r>
            <a:endParaRPr lang="zh-TW" altLang="en-US" sz="1700" b="1">
              <a:solidFill>
                <a:srgbClr val="375F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40237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EA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31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0" y="0"/>
            <a:ext cx="16256000" cy="9139809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1778000" y="1905000"/>
            <a:ext cx="12700000" cy="4445000"/>
          </a:xfrm>
          <a:prstGeom prst="roundRect">
            <a:avLst>
              <a:gd name="adj" fmla="val 5000"/>
            </a:avLst>
          </a:prstGeom>
          <a:solidFill>
            <a:srgbClr val="FFFFFF">
              <a:alpha val="18824"/>
            </a:srgbClr>
          </a:solidFill>
          <a:ln w="127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10" name="Text 1"/>
          <p:cNvSpPr/>
          <p:nvPr/>
        </p:nvSpPr>
        <p:spPr>
          <a:xfrm>
            <a:off x="2286000" y="2032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下一阶段研究计划</a:t>
            </a:r>
            <a:endParaRPr lang="en-US" sz="1600" dirty="0"/>
          </a:p>
        </p:txBody>
      </p:sp>
      <p:sp>
        <p:nvSpPr>
          <p:cNvPr id="11" name="Shape 2"/>
          <p:cNvSpPr/>
          <p:nvPr/>
        </p:nvSpPr>
        <p:spPr>
          <a:xfrm>
            <a:off x="5080000" y="2730500"/>
            <a:ext cx="6096000" cy="25400"/>
          </a:xfrm>
          <a:prstGeom prst="rect">
            <a:avLst/>
          </a:prstGeom>
          <a:solidFill>
            <a:srgbClr val="FFFFFF">
              <a:alpha val="50196"/>
            </a:srgbClr>
          </a:solidFill>
          <a:ln/>
        </p:spPr>
      </p:sp>
      <p:sp>
        <p:nvSpPr>
          <p:cNvPr id="12" name="Text 3"/>
          <p:cNvSpPr/>
          <p:nvPr/>
        </p:nvSpPr>
        <p:spPr>
          <a:xfrm>
            <a:off x="2286000" y="2921000"/>
            <a:ext cx="1168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扩展系统级验证（CRC/ECC/resync/写入阻塞/多 lane 配置）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补充长期稳定性与参数扫描实验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完善 FPGA 工程约束与板级验证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整理论文实验章节材料</a:t>
            </a:r>
            <a:endParaRPr lang="en-US" sz="1600" dirty="0"/>
          </a:p>
        </p:txBody>
      </p:sp>
      <p:sp>
        <p:nvSpPr>
          <p:cNvPr id="13" name="Shape 4"/>
          <p:cNvSpPr/>
          <p:nvPr/>
        </p:nvSpPr>
        <p:spPr>
          <a:xfrm>
            <a:off x="2540000" y="6858000"/>
            <a:ext cx="11176000" cy="1016000"/>
          </a:xfrm>
          <a:prstGeom prst="roundRect">
            <a:avLst>
              <a:gd name="adj" fmla="val 15000"/>
            </a:avLst>
          </a:prstGeom>
          <a:solidFill>
            <a:srgbClr val="2F5496">
              <a:alpha val="69020"/>
            </a:srgbClr>
          </a:solidFill>
          <a:ln/>
        </p:spPr>
      </p:sp>
      <p:sp>
        <p:nvSpPr>
          <p:cNvPr id="14" name="Text 5"/>
          <p:cNvSpPr/>
          <p:nvPr/>
        </p:nvSpPr>
        <p:spPr>
          <a:xfrm>
            <a:off x="2540000" y="6858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感谢各位老师，敬请批评指正！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701</Words>
  <Application>Microsoft Office PowerPoint</Application>
  <PresentationFormat>自定义</PresentationFormat>
  <Paragraphs>158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微软雅黑</vt:lpstr>
      <vt:lpstr>MiSans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MIPI CSI-2 协议的高速高可靠图像采集系统设计与仿真验证</dc:title>
  <dc:subject>基于 MIPI CSI-2 协议的高速高可靠图像采集系统设计与仿真验证</dc:subject>
  <dc:creator>Kimi</dc:creator>
  <cp:lastModifiedBy>wt Liu</cp:lastModifiedBy>
  <cp:revision>2</cp:revision>
  <dcterms:created xsi:type="dcterms:W3CDTF">2026-05-29T09:20:41Z</dcterms:created>
  <dcterms:modified xsi:type="dcterms:W3CDTF">2026-05-29T15:18:11Z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 MIPI CSI-2 协议的高速高可靠图像采集系统设计与仿真验证","ContentProducer":"001191110108MACG2KBH8F10000","ProduceID":"19e72feb-80c2-8d28-8000-0000930a0b1f","ReservedCode1":"","ContentPropagator":"001191110108MACG2KBH8F20000","PropagateID":"19e72feb-80c2-8d28-8000-0000930a0b1f","ReservedCode2":""}</vt:lpwstr>
  </property>
</Properties>
</file>